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59" r:id="rId5"/>
    <p:sldId id="261" r:id="rId6"/>
    <p:sldId id="258"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A5F979-8147-4D3B-BF48-6B41091C8314}" v="120" dt="2021-12-22T08:08:09.900"/>
    <p1510:client id="{AE951459-33CA-4488-BB59-33733DC6F773}" v="5763" dt="2021-11-29T12:21:34.583"/>
    <p1510:client id="{B1438359-6838-421F-A7A3-AD07DBC58E40}" v="1" dt="2021-11-28T21:36:30.673"/>
    <p1510:client id="{ECE63A20-2DBE-42DD-AFE0-1CC04E630347}" v="6013" dt="2021-11-28T21:04:18.301"/>
    <p1510:client id="{FEDEA68D-4884-4563-BA8D-A8BE8C2EF285}" v="4" dt="2022-03-23T02:53:57.4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esan Vijayan" userId="02e1221f0fc9827a" providerId="Windows Live" clId="Web-{13A5F979-8147-4D3B-BF48-6B41091C8314}"/>
    <pc:docChg chg="modSld">
      <pc:chgData name="Ganesan Vijayan" userId="02e1221f0fc9827a" providerId="Windows Live" clId="Web-{13A5F979-8147-4D3B-BF48-6B41091C8314}" dt="2021-12-22T08:08:09.900" v="61" actId="14100"/>
      <pc:docMkLst>
        <pc:docMk/>
      </pc:docMkLst>
      <pc:sldChg chg="modSp">
        <pc:chgData name="Ganesan Vijayan" userId="02e1221f0fc9827a" providerId="Windows Live" clId="Web-{13A5F979-8147-4D3B-BF48-6B41091C8314}" dt="2021-12-22T08:08:09.900" v="61" actId="14100"/>
        <pc:sldMkLst>
          <pc:docMk/>
          <pc:sldMk cId="3915585093" sldId="259"/>
        </pc:sldMkLst>
        <pc:spChg chg="mod">
          <ac:chgData name="Ganesan Vijayan" userId="02e1221f0fc9827a" providerId="Windows Live" clId="Web-{13A5F979-8147-4D3B-BF48-6B41091C8314}" dt="2021-12-22T08:05:27.537" v="14" actId="20577"/>
          <ac:spMkLst>
            <pc:docMk/>
            <pc:sldMk cId="3915585093" sldId="259"/>
            <ac:spMk id="13" creationId="{51E67B10-58AF-4B0C-A07C-4CD89C545E9A}"/>
          </ac:spMkLst>
        </pc:spChg>
        <pc:spChg chg="mod">
          <ac:chgData name="Ganesan Vijayan" userId="02e1221f0fc9827a" providerId="Windows Live" clId="Web-{13A5F979-8147-4D3B-BF48-6B41091C8314}" dt="2021-12-22T08:06:16.616" v="35" actId="1076"/>
          <ac:spMkLst>
            <pc:docMk/>
            <pc:sldMk cId="3915585093" sldId="259"/>
            <ac:spMk id="14" creationId="{FFFF77BD-F861-4ED5-8985-107C72B4A375}"/>
          </ac:spMkLst>
        </pc:spChg>
        <pc:spChg chg="mod">
          <ac:chgData name="Ganesan Vijayan" userId="02e1221f0fc9827a" providerId="Windows Live" clId="Web-{13A5F979-8147-4D3B-BF48-6B41091C8314}" dt="2021-12-22T08:06:11.304" v="34" actId="1076"/>
          <ac:spMkLst>
            <pc:docMk/>
            <pc:sldMk cId="3915585093" sldId="259"/>
            <ac:spMk id="15" creationId="{954758DC-F2F4-487B-A287-45B1688A5B69}"/>
          </ac:spMkLst>
        </pc:spChg>
        <pc:spChg chg="mod">
          <ac:chgData name="Ganesan Vijayan" userId="02e1221f0fc9827a" providerId="Windows Live" clId="Web-{13A5F979-8147-4D3B-BF48-6B41091C8314}" dt="2021-12-22T08:07:26.868" v="59" actId="20577"/>
          <ac:spMkLst>
            <pc:docMk/>
            <pc:sldMk cId="3915585093" sldId="259"/>
            <ac:spMk id="44" creationId="{F4BCEAE7-3DF9-4827-B008-D9231E98D5AC}"/>
          </ac:spMkLst>
        </pc:spChg>
        <pc:spChg chg="mod">
          <ac:chgData name="Ganesan Vijayan" userId="02e1221f0fc9827a" providerId="Windows Live" clId="Web-{13A5F979-8147-4D3B-BF48-6B41091C8314}" dt="2021-12-22T08:06:22.507" v="36" actId="1076"/>
          <ac:spMkLst>
            <pc:docMk/>
            <pc:sldMk cId="3915585093" sldId="259"/>
            <ac:spMk id="67" creationId="{4568667A-3054-4FE5-8958-0986445C79E2}"/>
          </ac:spMkLst>
        </pc:spChg>
        <pc:spChg chg="mod">
          <ac:chgData name="Ganesan Vijayan" userId="02e1221f0fc9827a" providerId="Windows Live" clId="Web-{13A5F979-8147-4D3B-BF48-6B41091C8314}" dt="2021-12-22T08:08:09.900" v="61" actId="14100"/>
          <ac:spMkLst>
            <pc:docMk/>
            <pc:sldMk cId="3915585093" sldId="259"/>
            <ac:spMk id="69" creationId="{348E09D2-A549-4F26-B9F2-210A7F62C0AA}"/>
          </ac:spMkLst>
        </pc:spChg>
      </pc:sldChg>
    </pc:docChg>
  </pc:docChgLst>
  <pc:docChgLst>
    <pc:chgData name="Ganesan Vijayan" userId="02e1221f0fc9827a" providerId="Windows Live" clId="Web-{FEDEA68D-4884-4563-BA8D-A8BE8C2EF285}"/>
    <pc:docChg chg="modSld">
      <pc:chgData name="Ganesan Vijayan" userId="02e1221f0fc9827a" providerId="Windows Live" clId="Web-{FEDEA68D-4884-4563-BA8D-A8BE8C2EF285}" dt="2022-03-23T02:53:57.400" v="1" actId="20577"/>
      <pc:docMkLst>
        <pc:docMk/>
      </pc:docMkLst>
      <pc:sldChg chg="modSp">
        <pc:chgData name="Ganesan Vijayan" userId="02e1221f0fc9827a" providerId="Windows Live" clId="Web-{FEDEA68D-4884-4563-BA8D-A8BE8C2EF285}" dt="2022-03-23T02:53:57.400" v="1" actId="20577"/>
        <pc:sldMkLst>
          <pc:docMk/>
          <pc:sldMk cId="565318488" sldId="261"/>
        </pc:sldMkLst>
        <pc:spChg chg="mod">
          <ac:chgData name="Ganesan Vijayan" userId="02e1221f0fc9827a" providerId="Windows Live" clId="Web-{FEDEA68D-4884-4563-BA8D-A8BE8C2EF285}" dt="2022-03-23T02:53:57.400" v="1" actId="20577"/>
          <ac:spMkLst>
            <pc:docMk/>
            <pc:sldMk cId="565318488" sldId="261"/>
            <ac:spMk id="2" creationId="{D41A391A-4907-45A5-96C5-0FA781A799A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3/22/2022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9659" y="1261752"/>
            <a:ext cx="9822365" cy="1179552"/>
          </a:xfrm>
        </p:spPr>
        <p:txBody>
          <a:bodyPr>
            <a:normAutofit/>
          </a:bodyPr>
          <a:lstStyle/>
          <a:p>
            <a:r>
              <a:rPr lang="en-US" sz="3600" b="1" dirty="0">
                <a:latin typeface="Calibri Light"/>
                <a:cs typeface="Calibri Light"/>
              </a:rPr>
              <a:t>ML model development and deployment Solution</a:t>
            </a:r>
          </a:p>
        </p:txBody>
      </p:sp>
      <p:sp>
        <p:nvSpPr>
          <p:cNvPr id="3" name="Subtitle 2"/>
          <p:cNvSpPr>
            <a:spLocks noGrp="1"/>
          </p:cNvSpPr>
          <p:nvPr>
            <p:ph type="subTitle" idx="1"/>
          </p:nvPr>
        </p:nvSpPr>
        <p:spPr>
          <a:xfrm>
            <a:off x="6086708" y="3676380"/>
            <a:ext cx="6105292" cy="1655762"/>
          </a:xfrm>
        </p:spPr>
        <p:txBody>
          <a:bodyPr vert="horz" lIns="91440" tIns="45720" rIns="91440" bIns="45720" rtlCol="0" anchor="t">
            <a:normAutofit/>
          </a:bodyPr>
          <a:lstStyle/>
          <a:p>
            <a:r>
              <a:rPr lang="en-US" dirty="0">
                <a:cs typeface="Calibri"/>
              </a:rPr>
              <a:t>Prepared by Ganesan Vijayan</a:t>
            </a:r>
          </a:p>
          <a:p>
            <a:r>
              <a:rPr lang="en-US" dirty="0">
                <a:cs typeface="Calibri"/>
              </a:rPr>
              <a:t>11/27/2021</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6391-0510-40C8-B7A7-0BEAF7505650}"/>
              </a:ext>
            </a:extLst>
          </p:cNvPr>
          <p:cNvSpPr>
            <a:spLocks noGrp="1"/>
          </p:cNvSpPr>
          <p:nvPr>
            <p:ph type="title"/>
          </p:nvPr>
        </p:nvSpPr>
        <p:spPr>
          <a:xfrm>
            <a:off x="838200" y="262906"/>
            <a:ext cx="10515600" cy="1325563"/>
          </a:xfrm>
        </p:spPr>
        <p:txBody>
          <a:bodyPr>
            <a:normAutofit/>
          </a:bodyPr>
          <a:lstStyle/>
          <a:p>
            <a:r>
              <a:rPr lang="en-US" sz="2000" b="1" dirty="0">
                <a:latin typeface="Calibri Light"/>
                <a:ea typeface="+mj-lt"/>
                <a:cs typeface="Calibri Light"/>
              </a:rPr>
              <a:t>ML model development and deployment Solution</a:t>
            </a:r>
            <a:endParaRPr lang="en-US" dirty="0">
              <a:latin typeface="Calibri Light"/>
              <a:ea typeface="+mj-lt"/>
              <a:cs typeface="Calibri Light"/>
            </a:endParaRPr>
          </a:p>
        </p:txBody>
      </p:sp>
      <p:sp>
        <p:nvSpPr>
          <p:cNvPr id="3" name="Content Placeholder 2">
            <a:extLst>
              <a:ext uri="{FF2B5EF4-FFF2-40B4-BE49-F238E27FC236}">
                <a16:creationId xmlns:a16="http://schemas.microsoft.com/office/drawing/2014/main" id="{322AC320-1489-4E8A-ACDD-6F450423533A}"/>
              </a:ext>
            </a:extLst>
          </p:cNvPr>
          <p:cNvSpPr>
            <a:spLocks noGrp="1"/>
          </p:cNvSpPr>
          <p:nvPr>
            <p:ph idx="1"/>
          </p:nvPr>
        </p:nvSpPr>
        <p:spPr>
          <a:xfrm>
            <a:off x="884663" y="1389080"/>
            <a:ext cx="10515600" cy="4481224"/>
          </a:xfrm>
        </p:spPr>
        <p:txBody>
          <a:bodyPr vert="horz" lIns="91440" tIns="45720" rIns="91440" bIns="45720" rtlCol="0" anchor="t">
            <a:normAutofit lnSpcReduction="10000"/>
          </a:bodyPr>
          <a:lstStyle/>
          <a:p>
            <a:pPr marL="0" indent="0">
              <a:buNone/>
            </a:pPr>
            <a:r>
              <a:rPr lang="en-US" sz="1400" b="1" dirty="0">
                <a:ea typeface="+mn-lt"/>
                <a:cs typeface="+mn-lt"/>
              </a:rPr>
              <a:t>Objective:</a:t>
            </a:r>
            <a:endParaRPr lang="en-US" sz="1400" b="1" dirty="0"/>
          </a:p>
          <a:p>
            <a:pPr marL="0" indent="0">
              <a:buNone/>
            </a:pPr>
            <a:r>
              <a:rPr lang="en-US" sz="1400" dirty="0">
                <a:cs typeface="Calibri" panose="020F0502020204030204"/>
              </a:rPr>
              <a:t>Objective of this presentation is to show case my idea on how MLOps can be built based on my past experience, and also to carve out any assumptions, challenges associated to this MLOps solutioning proposal.  This idea focuses mainly on to overcome any current challenges that Data Science/BI teams encounter and also to build a robust end-to-end MDLC(Model </a:t>
            </a:r>
            <a:r>
              <a:rPr lang="en-US" sz="1400">
                <a:cs typeface="Calibri" panose="020F0502020204030204"/>
              </a:rPr>
              <a:t>Development Life Cycle) framework right from feature storage, rapid model experiments through model monitoring and </a:t>
            </a:r>
            <a:r>
              <a:rPr lang="en-US" sz="1400" dirty="0">
                <a:cs typeface="Calibri" panose="020F0502020204030204"/>
              </a:rPr>
              <a:t>triggers.</a:t>
            </a:r>
          </a:p>
          <a:p>
            <a:pPr marL="0" indent="0">
              <a:buNone/>
            </a:pPr>
            <a:endParaRPr lang="en-US" sz="1400" dirty="0">
              <a:cs typeface="Calibri" panose="020F0502020204030204"/>
            </a:endParaRPr>
          </a:p>
          <a:p>
            <a:pPr marL="0" indent="0">
              <a:buNone/>
            </a:pPr>
            <a:r>
              <a:rPr lang="en-US" sz="1400" b="1">
                <a:cs typeface="Calibri" panose="020F0502020204030204"/>
              </a:rPr>
              <a:t>Current challenges and limitations:</a:t>
            </a:r>
          </a:p>
          <a:p>
            <a:pPr>
              <a:buNone/>
            </a:pPr>
            <a:r>
              <a:rPr lang="en-US" sz="1400" dirty="0">
                <a:ea typeface="+mn-lt"/>
                <a:cs typeface="+mn-lt"/>
              </a:rPr>
              <a:t>When the data scientist team is targeted with this goal, they talk about some of the challenges</a:t>
            </a:r>
            <a:endParaRPr lang="en-US" sz="1400" dirty="0"/>
          </a:p>
          <a:p>
            <a:r>
              <a:rPr lang="en-US" sz="1400" dirty="0">
                <a:ea typeface="+mn-lt"/>
                <a:cs typeface="+mn-lt"/>
              </a:rPr>
              <a:t>Data Discoverability and data quality is a big challenge. Currently this is heavily dependent on manual intervention, and they would like a technological solution to reduce this dependency</a:t>
            </a:r>
            <a:endParaRPr lang="en-US" sz="1400" dirty="0">
              <a:cs typeface="Calibri"/>
            </a:endParaRPr>
          </a:p>
          <a:p>
            <a:r>
              <a:rPr lang="en-US" sz="1400" dirty="0">
                <a:ea typeface="+mn-lt"/>
                <a:cs typeface="+mn-lt"/>
              </a:rPr>
              <a:t>The platform for ML deployment is not optimized for rapid experimentation and has a manual dependency for pipeline set up and model deployment</a:t>
            </a:r>
            <a:endParaRPr lang="en-US" sz="1400" dirty="0">
              <a:cs typeface="Calibri"/>
            </a:endParaRPr>
          </a:p>
          <a:p>
            <a:r>
              <a:rPr lang="en-US" sz="1400" dirty="0">
                <a:ea typeface="+mn-lt"/>
                <a:cs typeface="+mn-lt"/>
              </a:rPr>
              <a:t>Model performance tracking is heavily manual and takes significant effort to measure. Also, need early warning mechanism to ensure they have sufficient time to respond in case the model performance is deteriorating</a:t>
            </a:r>
          </a:p>
          <a:p>
            <a:r>
              <a:rPr lang="en-US" sz="1400" dirty="0">
                <a:ea typeface="+mn-lt"/>
                <a:cs typeface="+mn-lt"/>
              </a:rPr>
              <a:t>Ability to reduce time to retrain/rebuild the models in production</a:t>
            </a:r>
            <a:endParaRPr lang="en-US" sz="1400" dirty="0">
              <a:cs typeface="Calibri"/>
            </a:endParaRPr>
          </a:p>
          <a:p>
            <a:pPr marL="0" indent="0">
              <a:buNone/>
            </a:pPr>
            <a:endParaRPr lang="en-US" sz="1400" dirty="0">
              <a:cs typeface="Calibri"/>
            </a:endParaRPr>
          </a:p>
        </p:txBody>
      </p:sp>
    </p:spTree>
    <p:extLst>
      <p:ext uri="{BB962C8B-B14F-4D97-AF65-F5344CB8AC3E}">
        <p14:creationId xmlns:p14="http://schemas.microsoft.com/office/powerpoint/2010/main" val="223990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19D7158-7169-403A-BABE-51E0A66E2498}"/>
              </a:ext>
            </a:extLst>
          </p:cNvPr>
          <p:cNvSpPr txBox="1">
            <a:spLocks/>
          </p:cNvSpPr>
          <p:nvPr/>
        </p:nvSpPr>
        <p:spPr>
          <a:xfrm>
            <a:off x="838200" y="685511"/>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ea typeface="+mj-lt"/>
                <a:cs typeface="+mj-lt"/>
              </a:rPr>
              <a:t>ML model development and deployment Solution</a:t>
            </a:r>
          </a:p>
          <a:p>
            <a:endParaRPr lang="en-US" sz="2000" b="1" dirty="0">
              <a:cs typeface="Calibri Light"/>
            </a:endParaRPr>
          </a:p>
        </p:txBody>
      </p:sp>
      <p:sp>
        <p:nvSpPr>
          <p:cNvPr id="5" name="Content Placeholder 2">
            <a:extLst>
              <a:ext uri="{FF2B5EF4-FFF2-40B4-BE49-F238E27FC236}">
                <a16:creationId xmlns:a16="http://schemas.microsoft.com/office/drawing/2014/main" id="{0680BC7D-7399-4007-9A0D-A6377AA1E78C}"/>
              </a:ext>
            </a:extLst>
          </p:cNvPr>
          <p:cNvSpPr txBox="1">
            <a:spLocks/>
          </p:cNvSpPr>
          <p:nvPr/>
        </p:nvSpPr>
        <p:spPr>
          <a:xfrm>
            <a:off x="835031" y="1477149"/>
            <a:ext cx="10450552" cy="530848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cs typeface="Calibri"/>
              </a:rPr>
              <a:t>Target users involved in the solution approach:</a:t>
            </a:r>
          </a:p>
          <a:p>
            <a:pPr marL="0" indent="0">
              <a:buNone/>
            </a:pPr>
            <a:r>
              <a:rPr lang="en-US" sz="1400" dirty="0">
                <a:cs typeface="Calibri"/>
              </a:rPr>
              <a:t>As part of overall </a:t>
            </a:r>
            <a:r>
              <a:rPr lang="en-US" sz="1400" err="1">
                <a:cs typeface="Calibri"/>
              </a:rPr>
              <a:t>MLOps</a:t>
            </a:r>
            <a:r>
              <a:rPr lang="en-US" sz="1400" dirty="0">
                <a:cs typeface="Calibri"/>
              </a:rPr>
              <a:t> solutioning approach, this framework is aimed to be setup for different roles involved in various stages enabling them a secured, seamless, and rapid environment for building a model pipeline covering data acquisition, model experiments, optimization, and model deployment and prediction, model performance monitoring.</a:t>
            </a:r>
          </a:p>
          <a:p>
            <a:pPr marL="0" indent="0">
              <a:buNone/>
            </a:pPr>
            <a:endParaRPr lang="en-US" sz="1400" dirty="0">
              <a:cs typeface="Calibri"/>
            </a:endParaRPr>
          </a:p>
          <a:p>
            <a:pPr marL="0" indent="0">
              <a:buNone/>
            </a:pPr>
            <a:r>
              <a:rPr lang="en-US" sz="1400" b="1" dirty="0">
                <a:cs typeface="Calibri"/>
              </a:rPr>
              <a:t>Data Engineer </a:t>
            </a:r>
            <a:r>
              <a:rPr lang="en-US" sz="1400" dirty="0">
                <a:cs typeface="Calibri"/>
              </a:rPr>
              <a:t>:</a:t>
            </a:r>
            <a:r>
              <a:rPr lang="en-US" sz="1400" dirty="0">
                <a:ea typeface="+mn-lt"/>
                <a:cs typeface="+mn-lt"/>
              </a:rPr>
              <a:t> is responsible for developing and maintaining suitable data pipelines and enabling a data platform that Data </a:t>
            </a:r>
            <a:r>
              <a:rPr lang="en-US" sz="1400">
                <a:ea typeface="+mn-lt"/>
                <a:cs typeface="+mn-lt"/>
              </a:rPr>
              <a:t>scientists and Business analysts work on.</a:t>
            </a:r>
            <a:endParaRPr lang="en-US" sz="1400">
              <a:cs typeface="Calibri"/>
            </a:endParaRPr>
          </a:p>
          <a:p>
            <a:pPr marL="0" indent="0">
              <a:buNone/>
            </a:pPr>
            <a:r>
              <a:rPr lang="en-US" sz="1400" b="1" dirty="0">
                <a:cs typeface="Calibri"/>
              </a:rPr>
              <a:t>Data Scientist(Advanced Analytics Team)</a:t>
            </a:r>
            <a:r>
              <a:rPr lang="en-US" sz="1400" dirty="0">
                <a:cs typeface="Calibri"/>
              </a:rPr>
              <a:t> :</a:t>
            </a:r>
            <a:r>
              <a:rPr lang="en-US" sz="1400" dirty="0">
                <a:ea typeface="+mn-lt"/>
                <a:cs typeface="+mn-lt"/>
              </a:rPr>
              <a:t> is responsible for developing optimized models that unearth future insights from existing data and helping companies to make data-driven decisions and also, responsible for producing prescriptive/ </a:t>
            </a:r>
            <a:r>
              <a:rPr lang="en-US" sz="1400">
                <a:ea typeface="+mn-lt"/>
                <a:cs typeface="+mn-lt"/>
              </a:rPr>
              <a:t>predictive insights in addition to the business analysis service and reporting offering that the BI team was providing.</a:t>
            </a:r>
            <a:endParaRPr lang="en-US" sz="1400">
              <a:cs typeface="Calibri"/>
            </a:endParaRPr>
          </a:p>
          <a:p>
            <a:pPr marL="0" indent="0">
              <a:buNone/>
            </a:pPr>
            <a:r>
              <a:rPr lang="en-US" sz="1400" b="1" dirty="0">
                <a:cs typeface="Calibri"/>
              </a:rPr>
              <a:t>Business Analyst(Industry Solutions Analytics Team)</a:t>
            </a:r>
            <a:r>
              <a:rPr lang="en-US" sz="1400" dirty="0">
                <a:cs typeface="Calibri"/>
              </a:rPr>
              <a:t> : is responsible for </a:t>
            </a:r>
            <a:r>
              <a:rPr lang="en-US" sz="1400" dirty="0">
                <a:ea typeface="+mn-lt"/>
                <a:cs typeface="+mn-lt"/>
              </a:rPr>
              <a:t>producing business intelligence (BI) and descriptive analytics for HQ leadership and field users in various geographies.</a:t>
            </a:r>
            <a:endParaRPr lang="en-US" sz="1400" dirty="0">
              <a:cs typeface="Calibri"/>
            </a:endParaRPr>
          </a:p>
          <a:p>
            <a:pPr marL="0" indent="0">
              <a:buNone/>
            </a:pPr>
            <a:endParaRPr lang="en-US" sz="1400" dirty="0">
              <a:cs typeface="Calibri"/>
            </a:endParaRPr>
          </a:p>
          <a:p>
            <a:pPr marL="0" indent="0">
              <a:buNone/>
            </a:pPr>
            <a:endParaRPr lang="en-US" sz="1400" dirty="0">
              <a:cs typeface="Calibri"/>
            </a:endParaRPr>
          </a:p>
          <a:p>
            <a:pPr marL="0" indent="0">
              <a:buNone/>
            </a:pPr>
            <a:r>
              <a:rPr lang="en-US" sz="1400" b="1" i="1" dirty="0">
                <a:cs typeface="Calibri"/>
              </a:rPr>
              <a:t>Note:</a:t>
            </a:r>
            <a:r>
              <a:rPr lang="en-US" sz="1400" i="1">
                <a:cs typeface="Calibri"/>
              </a:rPr>
              <a:t> It's my assumption that the above three roles are only predominantly involved as part of this overall ML life cycle.</a:t>
            </a:r>
          </a:p>
          <a:p>
            <a:pPr marL="0" indent="0">
              <a:buNone/>
            </a:pPr>
            <a:endParaRPr lang="en-US" sz="1400" dirty="0">
              <a:cs typeface="Calibri"/>
            </a:endParaRPr>
          </a:p>
          <a:p>
            <a:pPr marL="0" indent="0">
              <a:buNone/>
            </a:pPr>
            <a:endParaRPr lang="en-US" sz="1400" dirty="0">
              <a:cs typeface="Calibri"/>
            </a:endParaRPr>
          </a:p>
        </p:txBody>
      </p:sp>
    </p:spTree>
    <p:extLst>
      <p:ext uri="{BB962C8B-B14F-4D97-AF65-F5344CB8AC3E}">
        <p14:creationId xmlns:p14="http://schemas.microsoft.com/office/powerpoint/2010/main" val="869130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87FAA-1A9E-4783-B23E-8457C0E77CA9}"/>
              </a:ext>
            </a:extLst>
          </p:cNvPr>
          <p:cNvSpPr>
            <a:spLocks noGrp="1"/>
          </p:cNvSpPr>
          <p:nvPr>
            <p:ph type="title"/>
          </p:nvPr>
        </p:nvSpPr>
        <p:spPr>
          <a:xfrm>
            <a:off x="457200" y="269875"/>
            <a:ext cx="10480964" cy="806019"/>
          </a:xfrm>
        </p:spPr>
        <p:txBody>
          <a:bodyPr>
            <a:normAutofit/>
          </a:bodyPr>
          <a:lstStyle/>
          <a:p>
            <a:r>
              <a:rPr lang="en-US" sz="2000" b="1">
                <a:ea typeface="+mj-lt"/>
                <a:cs typeface="+mj-lt"/>
              </a:rPr>
              <a:t>Proposed e2e MLOps Solution : High-level architecture</a:t>
            </a:r>
            <a:endParaRPr lang="en-US" b="1"/>
          </a:p>
        </p:txBody>
      </p:sp>
      <p:sp>
        <p:nvSpPr>
          <p:cNvPr id="4" name="Rectangle: Rounded Corners 3">
            <a:extLst>
              <a:ext uri="{FF2B5EF4-FFF2-40B4-BE49-F238E27FC236}">
                <a16:creationId xmlns:a16="http://schemas.microsoft.com/office/drawing/2014/main" id="{6135E78D-6200-476A-938A-DB2162FDA866}"/>
              </a:ext>
            </a:extLst>
          </p:cNvPr>
          <p:cNvSpPr/>
          <p:nvPr/>
        </p:nvSpPr>
        <p:spPr>
          <a:xfrm>
            <a:off x="2124645" y="4570289"/>
            <a:ext cx="2243296" cy="1646958"/>
          </a:xfrm>
          <a:prstGeom prst="roundRect">
            <a:avLst/>
          </a:prstGeom>
          <a:ln>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B2729415-4B8D-47D1-9E28-D2C5EE464A7E}"/>
              </a:ext>
            </a:extLst>
          </p:cNvPr>
          <p:cNvSpPr/>
          <p:nvPr/>
        </p:nvSpPr>
        <p:spPr>
          <a:xfrm>
            <a:off x="6710372" y="1744954"/>
            <a:ext cx="2400257" cy="4496179"/>
          </a:xfrm>
          <a:prstGeom prst="roundRect">
            <a:avLst/>
          </a:prstGeom>
          <a:ln>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E0304B2-B195-48DA-A112-0EAE6D4D4E88}"/>
              </a:ext>
            </a:extLst>
          </p:cNvPr>
          <p:cNvSpPr/>
          <p:nvPr/>
        </p:nvSpPr>
        <p:spPr>
          <a:xfrm>
            <a:off x="1977736" y="1745673"/>
            <a:ext cx="2686050" cy="466725"/>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a:cs typeface="Calibri"/>
              </a:rPr>
              <a:t>Collibra</a:t>
            </a:r>
            <a:endParaRPr lang="en-US" sz="1400" dirty="0">
              <a:cs typeface="Calibri"/>
            </a:endParaRPr>
          </a:p>
          <a:p>
            <a:pPr algn="ctr"/>
            <a:r>
              <a:rPr lang="en-US" sz="1100">
                <a:cs typeface="Calibri"/>
              </a:rPr>
              <a:t>Meta data | Data Lineage | Data Discovery</a:t>
            </a:r>
          </a:p>
        </p:txBody>
      </p:sp>
      <p:pic>
        <p:nvPicPr>
          <p:cNvPr id="10" name="Graphic 10" descr="Database with solid fill">
            <a:extLst>
              <a:ext uri="{FF2B5EF4-FFF2-40B4-BE49-F238E27FC236}">
                <a16:creationId xmlns:a16="http://schemas.microsoft.com/office/drawing/2014/main" id="{2BA42485-2F31-46E0-BF4D-87F1B7874E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21226" y="5194885"/>
            <a:ext cx="914400" cy="914400"/>
          </a:xfrm>
          <a:prstGeom prst="rect">
            <a:avLst/>
          </a:prstGeom>
        </p:spPr>
      </p:pic>
      <p:pic>
        <p:nvPicPr>
          <p:cNvPr id="11" name="Graphic 10" descr="Database with solid fill">
            <a:extLst>
              <a:ext uri="{FF2B5EF4-FFF2-40B4-BE49-F238E27FC236}">
                <a16:creationId xmlns:a16="http://schemas.microsoft.com/office/drawing/2014/main" id="{39339A88-3E8A-4B45-A126-071C7036810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46527" y="5194884"/>
            <a:ext cx="914400" cy="914400"/>
          </a:xfrm>
          <a:prstGeom prst="rect">
            <a:avLst/>
          </a:prstGeom>
        </p:spPr>
      </p:pic>
      <p:sp>
        <p:nvSpPr>
          <p:cNvPr id="12" name="Rectangle: Rounded Corners 11">
            <a:extLst>
              <a:ext uri="{FF2B5EF4-FFF2-40B4-BE49-F238E27FC236}">
                <a16:creationId xmlns:a16="http://schemas.microsoft.com/office/drawing/2014/main" id="{D8F43C54-4D0D-4073-93DA-B2176A1AB339}"/>
              </a:ext>
            </a:extLst>
          </p:cNvPr>
          <p:cNvSpPr/>
          <p:nvPr/>
        </p:nvSpPr>
        <p:spPr>
          <a:xfrm>
            <a:off x="2387311" y="2539036"/>
            <a:ext cx="1885950" cy="154978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cs typeface="Calibri"/>
            </a:endParaRPr>
          </a:p>
        </p:txBody>
      </p:sp>
      <p:sp>
        <p:nvSpPr>
          <p:cNvPr id="13" name="TextBox 12">
            <a:extLst>
              <a:ext uri="{FF2B5EF4-FFF2-40B4-BE49-F238E27FC236}">
                <a16:creationId xmlns:a16="http://schemas.microsoft.com/office/drawing/2014/main" id="{51E67B10-58AF-4B0C-A07C-4CD89C545E9A}"/>
              </a:ext>
            </a:extLst>
          </p:cNvPr>
          <p:cNvSpPr txBox="1"/>
          <p:nvPr/>
        </p:nvSpPr>
        <p:spPr>
          <a:xfrm rot="16200000">
            <a:off x="827998" y="5139658"/>
            <a:ext cx="231427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Centralized Data Store</a:t>
            </a:r>
          </a:p>
        </p:txBody>
      </p:sp>
      <p:sp>
        <p:nvSpPr>
          <p:cNvPr id="14" name="TextBox 13">
            <a:extLst>
              <a:ext uri="{FF2B5EF4-FFF2-40B4-BE49-F238E27FC236}">
                <a16:creationId xmlns:a16="http://schemas.microsoft.com/office/drawing/2014/main" id="{FFFF77BD-F861-4ED5-8985-107C72B4A375}"/>
              </a:ext>
            </a:extLst>
          </p:cNvPr>
          <p:cNvSpPr txBox="1"/>
          <p:nvPr/>
        </p:nvSpPr>
        <p:spPr>
          <a:xfrm>
            <a:off x="3495104" y="5984214"/>
            <a:ext cx="131445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Online Store</a:t>
            </a:r>
          </a:p>
        </p:txBody>
      </p:sp>
      <p:sp>
        <p:nvSpPr>
          <p:cNvPr id="15" name="TextBox 14">
            <a:extLst>
              <a:ext uri="{FF2B5EF4-FFF2-40B4-BE49-F238E27FC236}">
                <a16:creationId xmlns:a16="http://schemas.microsoft.com/office/drawing/2014/main" id="{954758DC-F2F4-487B-A287-45B1688A5B69}"/>
              </a:ext>
            </a:extLst>
          </p:cNvPr>
          <p:cNvSpPr txBox="1"/>
          <p:nvPr/>
        </p:nvSpPr>
        <p:spPr>
          <a:xfrm>
            <a:off x="2250349" y="6001531"/>
            <a:ext cx="131445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dirty="0"/>
              <a:t>Offline data(Foundational)</a:t>
            </a:r>
          </a:p>
        </p:txBody>
      </p:sp>
      <p:sp>
        <p:nvSpPr>
          <p:cNvPr id="21" name="TextBox 20">
            <a:extLst>
              <a:ext uri="{FF2B5EF4-FFF2-40B4-BE49-F238E27FC236}">
                <a16:creationId xmlns:a16="http://schemas.microsoft.com/office/drawing/2014/main" id="{57A6C2AF-DCB8-454D-8B0E-20F10E1978B4}"/>
              </a:ext>
            </a:extLst>
          </p:cNvPr>
          <p:cNvSpPr txBox="1"/>
          <p:nvPr/>
        </p:nvSpPr>
        <p:spPr>
          <a:xfrm>
            <a:off x="2578276" y="2538107"/>
            <a:ext cx="175213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t>Data Ingestion Tools</a:t>
            </a:r>
          </a:p>
        </p:txBody>
      </p:sp>
      <p:sp>
        <p:nvSpPr>
          <p:cNvPr id="26" name="Rectangle: Rounded Corners 25">
            <a:extLst>
              <a:ext uri="{FF2B5EF4-FFF2-40B4-BE49-F238E27FC236}">
                <a16:creationId xmlns:a16="http://schemas.microsoft.com/office/drawing/2014/main" id="{55140336-2ABA-45D6-A91C-EDA369F6DF43}"/>
              </a:ext>
            </a:extLst>
          </p:cNvPr>
          <p:cNvSpPr/>
          <p:nvPr/>
        </p:nvSpPr>
        <p:spPr>
          <a:xfrm>
            <a:off x="675366" y="2433542"/>
            <a:ext cx="1278441" cy="1793826"/>
          </a:xfrm>
          <a:prstGeom prst="roundRect">
            <a:avLst/>
          </a:prstGeom>
          <a:ln>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30" name="TextBox 29">
            <a:extLst>
              <a:ext uri="{FF2B5EF4-FFF2-40B4-BE49-F238E27FC236}">
                <a16:creationId xmlns:a16="http://schemas.microsoft.com/office/drawing/2014/main" id="{E578FE60-B563-4C54-BA94-A6FA08E19A33}"/>
              </a:ext>
            </a:extLst>
          </p:cNvPr>
          <p:cNvSpPr txBox="1"/>
          <p:nvPr/>
        </p:nvSpPr>
        <p:spPr>
          <a:xfrm>
            <a:off x="1985529" y="1427018"/>
            <a:ext cx="25613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Feature Engineering and </a:t>
            </a:r>
            <a:r>
              <a:rPr lang="en-US" sz="1200" b="1" dirty="0">
                <a:ea typeface="+mn-lt"/>
                <a:cs typeface="+mn-lt"/>
              </a:rPr>
              <a:t>Governance </a:t>
            </a:r>
            <a:endParaRPr lang="en-US">
              <a:ea typeface="+mn-lt"/>
              <a:cs typeface="+mn-lt"/>
            </a:endParaRPr>
          </a:p>
        </p:txBody>
      </p:sp>
      <p:sp>
        <p:nvSpPr>
          <p:cNvPr id="31" name="TextBox 30">
            <a:extLst>
              <a:ext uri="{FF2B5EF4-FFF2-40B4-BE49-F238E27FC236}">
                <a16:creationId xmlns:a16="http://schemas.microsoft.com/office/drawing/2014/main" id="{E2EF3E25-D92B-4C53-A9A8-12C97C9BFA1E}"/>
              </a:ext>
            </a:extLst>
          </p:cNvPr>
          <p:cNvSpPr txBox="1"/>
          <p:nvPr/>
        </p:nvSpPr>
        <p:spPr>
          <a:xfrm rot="16200000">
            <a:off x="-197080" y="3099769"/>
            <a:ext cx="151656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Source Systems</a:t>
            </a:r>
          </a:p>
        </p:txBody>
      </p:sp>
      <p:cxnSp>
        <p:nvCxnSpPr>
          <p:cNvPr id="32" name="Straight Arrow Connector 31">
            <a:extLst>
              <a:ext uri="{FF2B5EF4-FFF2-40B4-BE49-F238E27FC236}">
                <a16:creationId xmlns:a16="http://schemas.microsoft.com/office/drawing/2014/main" id="{24491EE6-0513-4459-BC20-25D27E46D451}"/>
              </a:ext>
            </a:extLst>
          </p:cNvPr>
          <p:cNvCxnSpPr/>
          <p:nvPr/>
        </p:nvCxnSpPr>
        <p:spPr>
          <a:xfrm flipH="1">
            <a:off x="1954039" y="3707823"/>
            <a:ext cx="318740"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04F79B9-2444-4AE3-AF66-EB95B6F2BC74}"/>
              </a:ext>
            </a:extLst>
          </p:cNvPr>
          <p:cNvCxnSpPr>
            <a:cxnSpLocks/>
          </p:cNvCxnSpPr>
          <p:nvPr/>
        </p:nvCxnSpPr>
        <p:spPr>
          <a:xfrm>
            <a:off x="1981686" y="3193937"/>
            <a:ext cx="281569" cy="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2F97A048-AA9E-4B7A-B5DE-31B0D8D2F742}"/>
              </a:ext>
            </a:extLst>
          </p:cNvPr>
          <p:cNvSpPr/>
          <p:nvPr/>
        </p:nvSpPr>
        <p:spPr>
          <a:xfrm>
            <a:off x="2434936" y="2764616"/>
            <a:ext cx="1657350" cy="685800"/>
          </a:xfrm>
          <a:prstGeom prst="round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050">
                <a:ea typeface="+mn-lt"/>
                <a:cs typeface="+mn-lt"/>
              </a:rPr>
              <a:t>Apache Spark | UDFs</a:t>
            </a:r>
            <a:endParaRPr lang="en-US" sz="1050" dirty="0">
              <a:ea typeface="+mn-lt"/>
              <a:cs typeface="+mn-lt"/>
            </a:endParaRPr>
          </a:p>
          <a:p>
            <a:r>
              <a:rPr lang="en-US" sz="1050">
                <a:ea typeface="+mn-lt"/>
                <a:cs typeface="+mn-lt"/>
              </a:rPr>
              <a:t>Sqoop | Flume | Storm</a:t>
            </a:r>
          </a:p>
          <a:p>
            <a:r>
              <a:rPr lang="en-US" sz="1050" dirty="0" err="1">
                <a:ea typeface="+mn-lt"/>
                <a:cs typeface="+mn-lt"/>
              </a:rPr>
              <a:t>Pydoop</a:t>
            </a:r>
            <a:r>
              <a:rPr lang="en-US" sz="1050" dirty="0">
                <a:ea typeface="+mn-lt"/>
                <a:cs typeface="+mn-lt"/>
              </a:rPr>
              <a:t> | Snakebite</a:t>
            </a:r>
          </a:p>
          <a:p>
            <a:r>
              <a:rPr lang="en-US" sz="1050" dirty="0">
                <a:ea typeface="+mn-lt"/>
                <a:cs typeface="+mn-lt"/>
              </a:rPr>
              <a:t>Message Queues</a:t>
            </a:r>
          </a:p>
        </p:txBody>
      </p:sp>
      <p:sp>
        <p:nvSpPr>
          <p:cNvPr id="37" name="Rectangle: Rounded Corners 36">
            <a:extLst>
              <a:ext uri="{FF2B5EF4-FFF2-40B4-BE49-F238E27FC236}">
                <a16:creationId xmlns:a16="http://schemas.microsoft.com/office/drawing/2014/main" id="{18A4D8F3-5638-44DF-8309-EE66338EBE50}"/>
              </a:ext>
            </a:extLst>
          </p:cNvPr>
          <p:cNvSpPr/>
          <p:nvPr/>
        </p:nvSpPr>
        <p:spPr>
          <a:xfrm>
            <a:off x="2434935" y="3507565"/>
            <a:ext cx="1657350" cy="4953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050">
                <a:ea typeface="+mn-lt"/>
                <a:cs typeface="+mn-lt"/>
              </a:rPr>
              <a:t>Spark Streaming | UDFs</a:t>
            </a:r>
          </a:p>
          <a:p>
            <a:r>
              <a:rPr lang="en-US" sz="1050" dirty="0">
                <a:ea typeface="+mn-lt"/>
                <a:cs typeface="+mn-lt"/>
              </a:rPr>
              <a:t>Kafka</a:t>
            </a:r>
          </a:p>
          <a:p>
            <a:r>
              <a:rPr lang="en-US" sz="1050" dirty="0">
                <a:ea typeface="+mn-lt"/>
                <a:cs typeface="+mn-lt"/>
              </a:rPr>
              <a:t>Azure Stream Analytics</a:t>
            </a:r>
          </a:p>
        </p:txBody>
      </p:sp>
      <p:sp>
        <p:nvSpPr>
          <p:cNvPr id="38" name="TextBox 37">
            <a:extLst>
              <a:ext uri="{FF2B5EF4-FFF2-40B4-BE49-F238E27FC236}">
                <a16:creationId xmlns:a16="http://schemas.microsoft.com/office/drawing/2014/main" id="{FDE84AC3-30DF-4FB4-AE66-C473CBABA919}"/>
              </a:ext>
            </a:extLst>
          </p:cNvPr>
          <p:cNvSpPr txBox="1"/>
          <p:nvPr/>
        </p:nvSpPr>
        <p:spPr>
          <a:xfrm rot="5400000">
            <a:off x="3816178" y="3607686"/>
            <a:ext cx="75247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Streaming</a:t>
            </a:r>
          </a:p>
        </p:txBody>
      </p:sp>
      <p:sp>
        <p:nvSpPr>
          <p:cNvPr id="39" name="TextBox 38">
            <a:extLst>
              <a:ext uri="{FF2B5EF4-FFF2-40B4-BE49-F238E27FC236}">
                <a16:creationId xmlns:a16="http://schemas.microsoft.com/office/drawing/2014/main" id="{816C6BC2-69E2-44BB-BFC5-60325DDFBAB5}"/>
              </a:ext>
            </a:extLst>
          </p:cNvPr>
          <p:cNvSpPr txBox="1"/>
          <p:nvPr/>
        </p:nvSpPr>
        <p:spPr>
          <a:xfrm rot="5400000">
            <a:off x="3951037" y="2986818"/>
            <a:ext cx="482755"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Batch</a:t>
            </a:r>
          </a:p>
        </p:txBody>
      </p:sp>
      <p:sp>
        <p:nvSpPr>
          <p:cNvPr id="41" name="Rectangle: Rounded Corners 40">
            <a:extLst>
              <a:ext uri="{FF2B5EF4-FFF2-40B4-BE49-F238E27FC236}">
                <a16:creationId xmlns:a16="http://schemas.microsoft.com/office/drawing/2014/main" id="{92D676F0-65A8-493A-A8E3-A694CF23001A}"/>
              </a:ext>
            </a:extLst>
          </p:cNvPr>
          <p:cNvSpPr/>
          <p:nvPr/>
        </p:nvSpPr>
        <p:spPr>
          <a:xfrm>
            <a:off x="751799" y="2523258"/>
            <a:ext cx="1152525" cy="352425"/>
          </a:xfrm>
          <a:prstGeom prst="round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r>
              <a:rPr lang="en-US" sz="1050">
                <a:ea typeface="+mn-lt"/>
                <a:cs typeface="+mn-lt"/>
              </a:rPr>
              <a:t>File System</a:t>
            </a:r>
            <a:endParaRPr lang="en-US"/>
          </a:p>
        </p:txBody>
      </p:sp>
      <p:sp>
        <p:nvSpPr>
          <p:cNvPr id="42" name="Rectangle: Rounded Corners 41">
            <a:extLst>
              <a:ext uri="{FF2B5EF4-FFF2-40B4-BE49-F238E27FC236}">
                <a16:creationId xmlns:a16="http://schemas.microsoft.com/office/drawing/2014/main" id="{084E800C-DA3B-4CE4-A588-62EE97BC41C6}"/>
              </a:ext>
            </a:extLst>
          </p:cNvPr>
          <p:cNvSpPr/>
          <p:nvPr/>
        </p:nvSpPr>
        <p:spPr>
          <a:xfrm>
            <a:off x="751798" y="2942358"/>
            <a:ext cx="1152525" cy="342900"/>
          </a:xfrm>
          <a:prstGeom prst="round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r>
              <a:rPr lang="en-US" sz="1050">
                <a:ea typeface="+mn-lt"/>
                <a:cs typeface="+mn-lt"/>
              </a:rPr>
              <a:t>Cloud Storage</a:t>
            </a:r>
          </a:p>
        </p:txBody>
      </p:sp>
      <p:sp>
        <p:nvSpPr>
          <p:cNvPr id="43" name="Rectangle: Rounded Corners 42">
            <a:extLst>
              <a:ext uri="{FF2B5EF4-FFF2-40B4-BE49-F238E27FC236}">
                <a16:creationId xmlns:a16="http://schemas.microsoft.com/office/drawing/2014/main" id="{23F46C2E-7B62-42DC-8C56-34887CFD32D3}"/>
              </a:ext>
            </a:extLst>
          </p:cNvPr>
          <p:cNvSpPr/>
          <p:nvPr/>
        </p:nvSpPr>
        <p:spPr>
          <a:xfrm>
            <a:off x="751798" y="3360993"/>
            <a:ext cx="1152525" cy="371475"/>
          </a:xfrm>
          <a:prstGeom prst="round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r>
              <a:rPr lang="en-US" sz="1050">
                <a:ea typeface="+mn-lt"/>
                <a:cs typeface="+mn-lt"/>
              </a:rPr>
              <a:t>Data Warehouse</a:t>
            </a:r>
            <a:endParaRPr lang="en-US"/>
          </a:p>
        </p:txBody>
      </p:sp>
      <p:sp>
        <p:nvSpPr>
          <p:cNvPr id="44" name="TextBox 43">
            <a:extLst>
              <a:ext uri="{FF2B5EF4-FFF2-40B4-BE49-F238E27FC236}">
                <a16:creationId xmlns:a16="http://schemas.microsoft.com/office/drawing/2014/main" id="{F4BCEAE7-3DF9-4827-B008-D9231E98D5AC}"/>
              </a:ext>
            </a:extLst>
          </p:cNvPr>
          <p:cNvSpPr txBox="1"/>
          <p:nvPr/>
        </p:nvSpPr>
        <p:spPr>
          <a:xfrm rot="16200000">
            <a:off x="1387188" y="3253829"/>
            <a:ext cx="184871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Pre-data load DQs</a:t>
            </a:r>
            <a:r>
              <a:rPr lang="en-US" sz="1100" dirty="0">
                <a:ea typeface="+mn-lt"/>
                <a:cs typeface="+mn-lt"/>
              </a:rPr>
              <a:t>(</a:t>
            </a:r>
            <a:r>
              <a:rPr lang="en-US" sz="1100" dirty="0" err="1">
                <a:ea typeface="+mn-lt"/>
                <a:cs typeface="+mn-lt"/>
              </a:rPr>
              <a:t>pydeequ</a:t>
            </a:r>
            <a:r>
              <a:rPr lang="en-US" sz="1100" dirty="0">
                <a:ea typeface="+mn-lt"/>
                <a:cs typeface="+mn-lt"/>
              </a:rPr>
              <a:t>)</a:t>
            </a:r>
            <a:endParaRPr lang="en-US" sz="1100" dirty="0">
              <a:cs typeface="Calibri"/>
            </a:endParaRPr>
          </a:p>
        </p:txBody>
      </p:sp>
      <p:cxnSp>
        <p:nvCxnSpPr>
          <p:cNvPr id="45" name="Straight Arrow Connector 44">
            <a:extLst>
              <a:ext uri="{FF2B5EF4-FFF2-40B4-BE49-F238E27FC236}">
                <a16:creationId xmlns:a16="http://schemas.microsoft.com/office/drawing/2014/main" id="{A6CB5E42-846B-40DD-9159-2CCA794C1833}"/>
              </a:ext>
            </a:extLst>
          </p:cNvPr>
          <p:cNvCxnSpPr>
            <a:cxnSpLocks/>
          </p:cNvCxnSpPr>
          <p:nvPr/>
        </p:nvCxnSpPr>
        <p:spPr>
          <a:xfrm flipV="1">
            <a:off x="3041051" y="2190331"/>
            <a:ext cx="2788" cy="36241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6069DA7-38C6-43BE-BE62-E351240A654C}"/>
              </a:ext>
            </a:extLst>
          </p:cNvPr>
          <p:cNvCxnSpPr>
            <a:cxnSpLocks/>
          </p:cNvCxnSpPr>
          <p:nvPr/>
        </p:nvCxnSpPr>
        <p:spPr>
          <a:xfrm>
            <a:off x="3617197" y="2208912"/>
            <a:ext cx="2788" cy="32524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76E3318-E7BF-4791-90D0-330A9C231D6D}"/>
              </a:ext>
            </a:extLst>
          </p:cNvPr>
          <p:cNvSpPr txBox="1"/>
          <p:nvPr/>
        </p:nvSpPr>
        <p:spPr>
          <a:xfrm>
            <a:off x="1826371" y="2189869"/>
            <a:ext cx="13091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cs typeface="Calibri"/>
              </a:rPr>
              <a:t>Send metadata </a:t>
            </a:r>
            <a:r>
              <a:rPr lang="en-US" sz="900">
                <a:cs typeface="Calibri"/>
              </a:rPr>
              <a:t>request via RESTful </a:t>
            </a:r>
            <a:r>
              <a:rPr lang="en-US" sz="900" dirty="0">
                <a:cs typeface="Calibri"/>
              </a:rPr>
              <a:t>api</a:t>
            </a:r>
          </a:p>
        </p:txBody>
      </p:sp>
      <p:cxnSp>
        <p:nvCxnSpPr>
          <p:cNvPr id="51" name="Straight Arrow Connector 50">
            <a:extLst>
              <a:ext uri="{FF2B5EF4-FFF2-40B4-BE49-F238E27FC236}">
                <a16:creationId xmlns:a16="http://schemas.microsoft.com/office/drawing/2014/main" id="{C33595A4-CFA8-4291-BA93-CBE266FC149B}"/>
              </a:ext>
            </a:extLst>
          </p:cNvPr>
          <p:cNvCxnSpPr/>
          <p:nvPr/>
        </p:nvCxnSpPr>
        <p:spPr>
          <a:xfrm flipH="1">
            <a:off x="3035709" y="4079530"/>
            <a:ext cx="5575" cy="635620"/>
          </a:xfrm>
          <a:prstGeom prst="straightConnector1">
            <a:avLst/>
          </a:prstGeom>
          <a:ln>
            <a:solidFill>
              <a:schemeClr val="accent2">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54A4544D-CE7C-46BB-AB6A-E9787A804E65}"/>
              </a:ext>
            </a:extLst>
          </p:cNvPr>
          <p:cNvCxnSpPr>
            <a:cxnSpLocks/>
          </p:cNvCxnSpPr>
          <p:nvPr/>
        </p:nvCxnSpPr>
        <p:spPr>
          <a:xfrm flipH="1">
            <a:off x="3426003" y="4088822"/>
            <a:ext cx="5574" cy="62632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E2D08B3F-89FC-475A-9C03-34469DCE55E4}"/>
              </a:ext>
            </a:extLst>
          </p:cNvPr>
          <p:cNvSpPr txBox="1"/>
          <p:nvPr/>
        </p:nvSpPr>
        <p:spPr>
          <a:xfrm rot="16200000">
            <a:off x="2681952" y="4188109"/>
            <a:ext cx="538511"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Batch</a:t>
            </a:r>
          </a:p>
        </p:txBody>
      </p:sp>
      <p:sp>
        <p:nvSpPr>
          <p:cNvPr id="55" name="TextBox 54">
            <a:extLst>
              <a:ext uri="{FF2B5EF4-FFF2-40B4-BE49-F238E27FC236}">
                <a16:creationId xmlns:a16="http://schemas.microsoft.com/office/drawing/2014/main" id="{BEF70AE0-D40B-4125-A26E-DC2DCC4D6156}"/>
              </a:ext>
            </a:extLst>
          </p:cNvPr>
          <p:cNvSpPr txBox="1"/>
          <p:nvPr/>
        </p:nvSpPr>
        <p:spPr>
          <a:xfrm rot="5400000">
            <a:off x="3158298" y="4276758"/>
            <a:ext cx="752474" cy="246221"/>
          </a:xfrm>
          <a:prstGeom prst="rect">
            <a:avLst/>
          </a:prstGeom>
          <a:noFill/>
          <a:ln>
            <a:solidFill>
              <a:schemeClr val="tx1"/>
            </a:solidFill>
            <a:prstDash val="dash"/>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Streaming</a:t>
            </a:r>
          </a:p>
        </p:txBody>
      </p:sp>
      <p:pic>
        <p:nvPicPr>
          <p:cNvPr id="57" name="Graphic 57" descr="Gears with solid fill">
            <a:extLst>
              <a:ext uri="{FF2B5EF4-FFF2-40B4-BE49-F238E27FC236}">
                <a16:creationId xmlns:a16="http://schemas.microsoft.com/office/drawing/2014/main" id="{3634BC23-B958-4216-A274-5C88BE9EC8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3480000">
            <a:off x="2803023" y="4470486"/>
            <a:ext cx="886521" cy="905107"/>
          </a:xfrm>
          <a:prstGeom prst="rect">
            <a:avLst/>
          </a:prstGeom>
        </p:spPr>
      </p:pic>
      <p:cxnSp>
        <p:nvCxnSpPr>
          <p:cNvPr id="59" name="Straight Arrow Connector 58">
            <a:extLst>
              <a:ext uri="{FF2B5EF4-FFF2-40B4-BE49-F238E27FC236}">
                <a16:creationId xmlns:a16="http://schemas.microsoft.com/office/drawing/2014/main" id="{B93A34E0-B213-4034-89D8-E14D20E6AF6C}"/>
              </a:ext>
            </a:extLst>
          </p:cNvPr>
          <p:cNvCxnSpPr>
            <a:cxnSpLocks/>
          </p:cNvCxnSpPr>
          <p:nvPr/>
        </p:nvCxnSpPr>
        <p:spPr>
          <a:xfrm>
            <a:off x="2706748" y="5073845"/>
            <a:ext cx="3717" cy="198865"/>
          </a:xfrm>
          <a:prstGeom prst="straightConnector1">
            <a:avLst/>
          </a:prstGeom>
          <a:ln>
            <a:solidFill>
              <a:schemeClr val="accent2">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6DD763C-33F2-40AC-9797-8600C458F036}"/>
              </a:ext>
            </a:extLst>
          </p:cNvPr>
          <p:cNvCxnSpPr>
            <a:cxnSpLocks/>
          </p:cNvCxnSpPr>
          <p:nvPr/>
        </p:nvCxnSpPr>
        <p:spPr>
          <a:xfrm>
            <a:off x="3793993" y="5064554"/>
            <a:ext cx="3718" cy="19886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963E83C-17B1-4842-BDE1-ED316FEF6A24}"/>
              </a:ext>
            </a:extLst>
          </p:cNvPr>
          <p:cNvCxnSpPr/>
          <p:nvPr/>
        </p:nvCxnSpPr>
        <p:spPr>
          <a:xfrm flipH="1">
            <a:off x="3551219" y="5081978"/>
            <a:ext cx="250904" cy="0"/>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A3C06EA-2688-4794-A589-9CF388C95FB2}"/>
              </a:ext>
            </a:extLst>
          </p:cNvPr>
          <p:cNvCxnSpPr>
            <a:cxnSpLocks/>
          </p:cNvCxnSpPr>
          <p:nvPr/>
        </p:nvCxnSpPr>
        <p:spPr>
          <a:xfrm flipH="1">
            <a:off x="2714877" y="5081978"/>
            <a:ext cx="260196" cy="0"/>
          </a:xfrm>
          <a:prstGeom prst="straightConnector1">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B35DD928-077B-41DC-BD53-B006F44A842C}"/>
              </a:ext>
            </a:extLst>
          </p:cNvPr>
          <p:cNvSpPr txBox="1"/>
          <p:nvPr/>
        </p:nvSpPr>
        <p:spPr>
          <a:xfrm>
            <a:off x="2703072" y="5041768"/>
            <a:ext cx="1254048"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cs typeface="Calibri"/>
              </a:rPr>
              <a:t>Data Transformation</a:t>
            </a:r>
          </a:p>
        </p:txBody>
      </p:sp>
      <p:sp>
        <p:nvSpPr>
          <p:cNvPr id="67" name="TextBox 66">
            <a:extLst>
              <a:ext uri="{FF2B5EF4-FFF2-40B4-BE49-F238E27FC236}">
                <a16:creationId xmlns:a16="http://schemas.microsoft.com/office/drawing/2014/main" id="{4568667A-3054-4FE5-8958-0986445C79E2}"/>
              </a:ext>
            </a:extLst>
          </p:cNvPr>
          <p:cNvSpPr txBox="1"/>
          <p:nvPr/>
        </p:nvSpPr>
        <p:spPr>
          <a:xfrm rot="16200000">
            <a:off x="1352888" y="5048843"/>
            <a:ext cx="192544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Materialized historical dataset</a:t>
            </a:r>
            <a:endParaRPr lang="en-US"/>
          </a:p>
        </p:txBody>
      </p:sp>
      <p:sp>
        <p:nvSpPr>
          <p:cNvPr id="68" name="TextBox 67">
            <a:extLst>
              <a:ext uri="{FF2B5EF4-FFF2-40B4-BE49-F238E27FC236}">
                <a16:creationId xmlns:a16="http://schemas.microsoft.com/office/drawing/2014/main" id="{ADC6054B-CF5C-4275-8FCD-F381347B14AE}"/>
              </a:ext>
            </a:extLst>
          </p:cNvPr>
          <p:cNvSpPr txBox="1"/>
          <p:nvPr/>
        </p:nvSpPr>
        <p:spPr>
          <a:xfrm rot="16200000">
            <a:off x="3523152" y="5250959"/>
            <a:ext cx="125003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Real-time dataset</a:t>
            </a:r>
            <a:endParaRPr lang="en-US" sz="1000" dirty="0">
              <a:cs typeface="Calibri"/>
            </a:endParaRPr>
          </a:p>
        </p:txBody>
      </p:sp>
      <p:sp>
        <p:nvSpPr>
          <p:cNvPr id="69" name="TextBox 68">
            <a:extLst>
              <a:ext uri="{FF2B5EF4-FFF2-40B4-BE49-F238E27FC236}">
                <a16:creationId xmlns:a16="http://schemas.microsoft.com/office/drawing/2014/main" id="{348E09D2-A549-4F26-B9F2-210A7F62C0AA}"/>
              </a:ext>
            </a:extLst>
          </p:cNvPr>
          <p:cNvSpPr txBox="1"/>
          <p:nvPr/>
        </p:nvSpPr>
        <p:spPr>
          <a:xfrm>
            <a:off x="2320363" y="6239315"/>
            <a:ext cx="1640897"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t>Post-data load DQs(</a:t>
            </a:r>
            <a:r>
              <a:rPr lang="en-US" sz="900" dirty="0" err="1"/>
              <a:t>pydeequ</a:t>
            </a:r>
            <a:r>
              <a:rPr lang="en-US" sz="900" dirty="0"/>
              <a:t>)</a:t>
            </a:r>
            <a:endParaRPr lang="en-US" sz="900" dirty="0">
              <a:cs typeface="Calibri"/>
            </a:endParaRPr>
          </a:p>
        </p:txBody>
      </p:sp>
      <p:sp>
        <p:nvSpPr>
          <p:cNvPr id="70" name="Rectangle: Rounded Corners 69">
            <a:extLst>
              <a:ext uri="{FF2B5EF4-FFF2-40B4-BE49-F238E27FC236}">
                <a16:creationId xmlns:a16="http://schemas.microsoft.com/office/drawing/2014/main" id="{4D73889A-0600-467B-AFD2-0300BB0918EA}"/>
              </a:ext>
            </a:extLst>
          </p:cNvPr>
          <p:cNvSpPr/>
          <p:nvPr/>
        </p:nvSpPr>
        <p:spPr>
          <a:xfrm>
            <a:off x="5429883" y="1748334"/>
            <a:ext cx="1003400" cy="4448448"/>
          </a:xfrm>
          <a:prstGeom prst="roundRect">
            <a:avLst/>
          </a:prstGeom>
          <a:ln>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1" name="TextBox 70">
            <a:extLst>
              <a:ext uri="{FF2B5EF4-FFF2-40B4-BE49-F238E27FC236}">
                <a16:creationId xmlns:a16="http://schemas.microsoft.com/office/drawing/2014/main" id="{C77E9A26-2D4A-41FE-BB05-D36D88CB9F84}"/>
              </a:ext>
            </a:extLst>
          </p:cNvPr>
          <p:cNvSpPr txBox="1"/>
          <p:nvPr/>
        </p:nvSpPr>
        <p:spPr>
          <a:xfrm>
            <a:off x="5155516" y="1426153"/>
            <a:ext cx="185604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User Access Control</a:t>
            </a:r>
          </a:p>
        </p:txBody>
      </p:sp>
      <p:cxnSp>
        <p:nvCxnSpPr>
          <p:cNvPr id="72" name="Straight Arrow Connector 71">
            <a:extLst>
              <a:ext uri="{FF2B5EF4-FFF2-40B4-BE49-F238E27FC236}">
                <a16:creationId xmlns:a16="http://schemas.microsoft.com/office/drawing/2014/main" id="{044254C4-8757-4C71-BA4A-E6C8EC459911}"/>
              </a:ext>
            </a:extLst>
          </p:cNvPr>
          <p:cNvCxnSpPr/>
          <p:nvPr/>
        </p:nvCxnSpPr>
        <p:spPr>
          <a:xfrm>
            <a:off x="4824843" y="1984663"/>
            <a:ext cx="1" cy="3870612"/>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3904594-CF05-41C1-8BF8-888B3A867EE0}"/>
              </a:ext>
            </a:extLst>
          </p:cNvPr>
          <p:cNvCxnSpPr/>
          <p:nvPr/>
        </p:nvCxnSpPr>
        <p:spPr>
          <a:xfrm flipH="1" flipV="1">
            <a:off x="4362450" y="5843154"/>
            <a:ext cx="453736" cy="346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FDB78D29-53B2-42A5-BA2C-962858B3970A}"/>
              </a:ext>
            </a:extLst>
          </p:cNvPr>
          <p:cNvCxnSpPr>
            <a:cxnSpLocks/>
          </p:cNvCxnSpPr>
          <p:nvPr/>
        </p:nvCxnSpPr>
        <p:spPr>
          <a:xfrm flipH="1" flipV="1">
            <a:off x="4613563" y="1972539"/>
            <a:ext cx="219942" cy="346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pic>
        <p:nvPicPr>
          <p:cNvPr id="77" name="Graphic 77" descr="Research with solid fill">
            <a:extLst>
              <a:ext uri="{FF2B5EF4-FFF2-40B4-BE49-F238E27FC236}">
                <a16:creationId xmlns:a16="http://schemas.microsoft.com/office/drawing/2014/main" id="{17982C8B-3833-4667-8F10-1DE4A8BAAD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95504" y="3577935"/>
            <a:ext cx="645969" cy="645969"/>
          </a:xfrm>
          <a:prstGeom prst="rect">
            <a:avLst/>
          </a:prstGeom>
        </p:spPr>
      </p:pic>
      <p:pic>
        <p:nvPicPr>
          <p:cNvPr id="78" name="Graphic 78" descr="Bar graph with upward trend with solid fill">
            <a:extLst>
              <a:ext uri="{FF2B5EF4-FFF2-40B4-BE49-F238E27FC236}">
                <a16:creationId xmlns:a16="http://schemas.microsoft.com/office/drawing/2014/main" id="{B023A5D8-E9BE-432F-BB57-9FA16145A16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47459" y="5309753"/>
            <a:ext cx="542060" cy="542060"/>
          </a:xfrm>
          <a:prstGeom prst="rect">
            <a:avLst/>
          </a:prstGeom>
        </p:spPr>
      </p:pic>
      <p:pic>
        <p:nvPicPr>
          <p:cNvPr id="79" name="Graphic 79" descr="Transfer with solid fill">
            <a:extLst>
              <a:ext uri="{FF2B5EF4-FFF2-40B4-BE49-F238E27FC236}">
                <a16:creationId xmlns:a16="http://schemas.microsoft.com/office/drawing/2014/main" id="{5ED7CA59-42B8-4A39-902B-DF3CC3BF654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0754" y="2209800"/>
            <a:ext cx="455469" cy="438151"/>
          </a:xfrm>
          <a:prstGeom prst="rect">
            <a:avLst/>
          </a:prstGeom>
        </p:spPr>
      </p:pic>
      <p:cxnSp>
        <p:nvCxnSpPr>
          <p:cNvPr id="81" name="Straight Arrow Connector 80">
            <a:extLst>
              <a:ext uri="{FF2B5EF4-FFF2-40B4-BE49-F238E27FC236}">
                <a16:creationId xmlns:a16="http://schemas.microsoft.com/office/drawing/2014/main" id="{42F684FC-CE5B-41F1-96C7-2AA64CBA927E}"/>
              </a:ext>
            </a:extLst>
          </p:cNvPr>
          <p:cNvCxnSpPr>
            <a:cxnSpLocks/>
          </p:cNvCxnSpPr>
          <p:nvPr/>
        </p:nvCxnSpPr>
        <p:spPr>
          <a:xfrm flipH="1" flipV="1">
            <a:off x="4821381" y="5453495"/>
            <a:ext cx="618259" cy="1212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81A5689E-9FCA-4DE8-80EC-9BF374CEBDC7}"/>
              </a:ext>
            </a:extLst>
          </p:cNvPr>
          <p:cNvCxnSpPr>
            <a:cxnSpLocks/>
          </p:cNvCxnSpPr>
          <p:nvPr/>
        </p:nvCxnSpPr>
        <p:spPr>
          <a:xfrm flipH="1" flipV="1">
            <a:off x="4804062" y="3877540"/>
            <a:ext cx="618259" cy="1212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96C0FD85-1F61-4349-ACFB-0A8A96FCD104}"/>
              </a:ext>
            </a:extLst>
          </p:cNvPr>
          <p:cNvCxnSpPr>
            <a:cxnSpLocks/>
          </p:cNvCxnSpPr>
          <p:nvPr/>
        </p:nvCxnSpPr>
        <p:spPr>
          <a:xfrm flipH="1" flipV="1">
            <a:off x="4821381" y="2396836"/>
            <a:ext cx="618259" cy="1212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10A3A7E2-63D4-49DE-BEB3-8B4CE5A21986}"/>
              </a:ext>
            </a:extLst>
          </p:cNvPr>
          <p:cNvSpPr txBox="1"/>
          <p:nvPr/>
        </p:nvSpPr>
        <p:spPr>
          <a:xfrm rot="16200000">
            <a:off x="5033001" y="5408195"/>
            <a:ext cx="106819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Business Analyst</a:t>
            </a:r>
            <a:endParaRPr lang="en-US"/>
          </a:p>
        </p:txBody>
      </p:sp>
      <p:sp>
        <p:nvSpPr>
          <p:cNvPr id="85" name="TextBox 84">
            <a:extLst>
              <a:ext uri="{FF2B5EF4-FFF2-40B4-BE49-F238E27FC236}">
                <a16:creationId xmlns:a16="http://schemas.microsoft.com/office/drawing/2014/main" id="{2AC8563E-8E7C-4CD1-A42F-AF53A58EC3C8}"/>
              </a:ext>
            </a:extLst>
          </p:cNvPr>
          <p:cNvSpPr txBox="1"/>
          <p:nvPr/>
        </p:nvSpPr>
        <p:spPr>
          <a:xfrm rot="16200000">
            <a:off x="4712614" y="3758637"/>
            <a:ext cx="1700306"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Data Scientist | ML Engineer</a:t>
            </a:r>
            <a:endParaRPr lang="en-US"/>
          </a:p>
        </p:txBody>
      </p:sp>
      <p:sp>
        <p:nvSpPr>
          <p:cNvPr id="86" name="TextBox 85">
            <a:extLst>
              <a:ext uri="{FF2B5EF4-FFF2-40B4-BE49-F238E27FC236}">
                <a16:creationId xmlns:a16="http://schemas.microsoft.com/office/drawing/2014/main" id="{001A33EE-2AF8-4FA7-BDBD-61B07D331B3F}"/>
              </a:ext>
            </a:extLst>
          </p:cNvPr>
          <p:cNvSpPr txBox="1"/>
          <p:nvPr/>
        </p:nvSpPr>
        <p:spPr>
          <a:xfrm rot="16200000">
            <a:off x="4959399" y="2169695"/>
            <a:ext cx="122405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Data </a:t>
            </a:r>
            <a:r>
              <a:rPr lang="en-US" sz="1000"/>
              <a:t>Engineer</a:t>
            </a:r>
            <a:endParaRPr lang="en-US">
              <a:cs typeface="Calibri"/>
            </a:endParaRPr>
          </a:p>
        </p:txBody>
      </p:sp>
      <p:sp>
        <p:nvSpPr>
          <p:cNvPr id="87" name="TextBox 86">
            <a:extLst>
              <a:ext uri="{FF2B5EF4-FFF2-40B4-BE49-F238E27FC236}">
                <a16:creationId xmlns:a16="http://schemas.microsoft.com/office/drawing/2014/main" id="{ADDBE171-100F-46F7-A5E2-448FAE0D124F}"/>
              </a:ext>
            </a:extLst>
          </p:cNvPr>
          <p:cNvSpPr txBox="1"/>
          <p:nvPr/>
        </p:nvSpPr>
        <p:spPr>
          <a:xfrm rot="16200000">
            <a:off x="3933295" y="3455571"/>
            <a:ext cx="1561761"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Data Accessing Layer</a:t>
            </a:r>
            <a:endParaRPr lang="en-US"/>
          </a:p>
        </p:txBody>
      </p:sp>
      <p:sp>
        <p:nvSpPr>
          <p:cNvPr id="88" name="TextBox 87">
            <a:extLst>
              <a:ext uri="{FF2B5EF4-FFF2-40B4-BE49-F238E27FC236}">
                <a16:creationId xmlns:a16="http://schemas.microsoft.com/office/drawing/2014/main" id="{C24A8036-858B-4A85-817D-2225393FD344}"/>
              </a:ext>
            </a:extLst>
          </p:cNvPr>
          <p:cNvSpPr txBox="1"/>
          <p:nvPr/>
        </p:nvSpPr>
        <p:spPr>
          <a:xfrm>
            <a:off x="4832638" y="2200275"/>
            <a:ext cx="63904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ReadWrite</a:t>
            </a:r>
          </a:p>
        </p:txBody>
      </p:sp>
      <p:sp>
        <p:nvSpPr>
          <p:cNvPr id="92" name="TextBox 91">
            <a:extLst>
              <a:ext uri="{FF2B5EF4-FFF2-40B4-BE49-F238E27FC236}">
                <a16:creationId xmlns:a16="http://schemas.microsoft.com/office/drawing/2014/main" id="{1684DF11-E1F9-4345-840B-CC7183FC0093}"/>
              </a:ext>
            </a:extLst>
          </p:cNvPr>
          <p:cNvSpPr txBox="1"/>
          <p:nvPr/>
        </p:nvSpPr>
        <p:spPr>
          <a:xfrm>
            <a:off x="4867274" y="5239616"/>
            <a:ext cx="63904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ReadOnly</a:t>
            </a:r>
          </a:p>
        </p:txBody>
      </p:sp>
      <p:sp>
        <p:nvSpPr>
          <p:cNvPr id="93" name="TextBox 92">
            <a:extLst>
              <a:ext uri="{FF2B5EF4-FFF2-40B4-BE49-F238E27FC236}">
                <a16:creationId xmlns:a16="http://schemas.microsoft.com/office/drawing/2014/main" id="{77CE1430-2969-4F6B-9755-5517229D2596}"/>
              </a:ext>
            </a:extLst>
          </p:cNvPr>
          <p:cNvSpPr txBox="1"/>
          <p:nvPr/>
        </p:nvSpPr>
        <p:spPr>
          <a:xfrm>
            <a:off x="4832638" y="3663661"/>
            <a:ext cx="63904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ReadWrite</a:t>
            </a:r>
          </a:p>
        </p:txBody>
      </p:sp>
      <p:sp>
        <p:nvSpPr>
          <p:cNvPr id="94" name="TextBox 93">
            <a:extLst>
              <a:ext uri="{FF2B5EF4-FFF2-40B4-BE49-F238E27FC236}">
                <a16:creationId xmlns:a16="http://schemas.microsoft.com/office/drawing/2014/main" id="{81E0F1B9-DB9F-4F2B-87AC-127F796D4C89}"/>
              </a:ext>
            </a:extLst>
          </p:cNvPr>
          <p:cNvSpPr txBox="1"/>
          <p:nvPr/>
        </p:nvSpPr>
        <p:spPr>
          <a:xfrm rot="16200000">
            <a:off x="5478946" y="3772588"/>
            <a:ext cx="163969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t>ACL | Sentry | Ranger</a:t>
            </a:r>
          </a:p>
        </p:txBody>
      </p:sp>
      <p:sp>
        <p:nvSpPr>
          <p:cNvPr id="95" name="TextBox 94">
            <a:extLst>
              <a:ext uri="{FF2B5EF4-FFF2-40B4-BE49-F238E27FC236}">
                <a16:creationId xmlns:a16="http://schemas.microsoft.com/office/drawing/2014/main" id="{23C6BD5F-A15B-4118-B88F-42E054D58009}"/>
              </a:ext>
            </a:extLst>
          </p:cNvPr>
          <p:cNvSpPr txBox="1"/>
          <p:nvPr/>
        </p:nvSpPr>
        <p:spPr>
          <a:xfrm>
            <a:off x="3610144" y="2189869"/>
            <a:ext cx="11359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cs typeface="Calibri"/>
              </a:rPr>
              <a:t>Get meta payload for DDL</a:t>
            </a:r>
            <a:endParaRPr lang="en-US" sz="900" dirty="0">
              <a:cs typeface="Calibri"/>
            </a:endParaRPr>
          </a:p>
        </p:txBody>
      </p:sp>
      <p:sp>
        <p:nvSpPr>
          <p:cNvPr id="96" name="TextBox 95">
            <a:extLst>
              <a:ext uri="{FF2B5EF4-FFF2-40B4-BE49-F238E27FC236}">
                <a16:creationId xmlns:a16="http://schemas.microsoft.com/office/drawing/2014/main" id="{508F1946-925F-4BC1-8D4E-E9F2B10A28B4}"/>
              </a:ext>
            </a:extLst>
          </p:cNvPr>
          <p:cNvSpPr txBox="1"/>
          <p:nvPr/>
        </p:nvSpPr>
        <p:spPr>
          <a:xfrm>
            <a:off x="6757448" y="1426152"/>
            <a:ext cx="23582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Model/Report Development</a:t>
            </a:r>
            <a:endParaRPr lang="en-US"/>
          </a:p>
        </p:txBody>
      </p:sp>
      <p:sp>
        <p:nvSpPr>
          <p:cNvPr id="99" name="Rectangle: Rounded Corners 98">
            <a:extLst>
              <a:ext uri="{FF2B5EF4-FFF2-40B4-BE49-F238E27FC236}">
                <a16:creationId xmlns:a16="http://schemas.microsoft.com/office/drawing/2014/main" id="{C1F54B56-D0AF-4713-ABB9-8D273697E944}"/>
              </a:ext>
            </a:extLst>
          </p:cNvPr>
          <p:cNvSpPr/>
          <p:nvPr/>
        </p:nvSpPr>
        <p:spPr>
          <a:xfrm>
            <a:off x="6742834" y="1997651"/>
            <a:ext cx="2337952" cy="432954"/>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Jupyter Notebook- Rapid Prototyping</a:t>
            </a:r>
            <a:endParaRPr lang="en-US">
              <a:solidFill>
                <a:srgbClr val="000000"/>
              </a:solidFill>
            </a:endParaRPr>
          </a:p>
          <a:p>
            <a:pPr algn="ctr"/>
            <a:r>
              <a:rPr lang="en-US" sz="1100">
                <a:solidFill>
                  <a:srgbClr val="000000"/>
                </a:solidFill>
                <a:cs typeface="Calibri"/>
              </a:rPr>
              <a:t>DataRobot - AutoML</a:t>
            </a:r>
          </a:p>
        </p:txBody>
      </p:sp>
      <p:sp>
        <p:nvSpPr>
          <p:cNvPr id="100" name="TextBox 99">
            <a:extLst>
              <a:ext uri="{FF2B5EF4-FFF2-40B4-BE49-F238E27FC236}">
                <a16:creationId xmlns:a16="http://schemas.microsoft.com/office/drawing/2014/main" id="{07CB6324-4987-4C53-BBC3-E6BABA7DEE0E}"/>
              </a:ext>
            </a:extLst>
          </p:cNvPr>
          <p:cNvSpPr txBox="1"/>
          <p:nvPr/>
        </p:nvSpPr>
        <p:spPr>
          <a:xfrm>
            <a:off x="7071013" y="2464378"/>
            <a:ext cx="1808018" cy="1954381"/>
          </a:xfrm>
          <a:prstGeom prst="rect">
            <a:avLst/>
          </a:prstGeom>
          <a:solidFill>
            <a:schemeClr val="accent6">
              <a:lumMod val="40000"/>
              <a:lumOff val="60000"/>
            </a:schemeClr>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100" dirty="0">
                <a:cs typeface="Calibri" panose="020F0502020204030204"/>
              </a:rPr>
              <a:t>Data Exploration</a:t>
            </a:r>
          </a:p>
          <a:p>
            <a:pPr marL="285750" indent="-285750">
              <a:buFont typeface="Arial" panose="020B0604020202020204" pitchFamily="34" charset="0"/>
              <a:buChar char="•"/>
            </a:pPr>
            <a:r>
              <a:rPr lang="en-US" sz="1100" dirty="0"/>
              <a:t>Detailed Exploratory Data Analysis</a:t>
            </a:r>
            <a:endParaRPr lang="en-US" sz="1100" dirty="0">
              <a:cs typeface="Calibri"/>
            </a:endParaRPr>
          </a:p>
          <a:p>
            <a:pPr marL="285750" indent="-285750">
              <a:buFont typeface="Arial" panose="020B0604020202020204" pitchFamily="34" charset="0"/>
              <a:buChar char="•"/>
            </a:pPr>
            <a:r>
              <a:rPr lang="en-US" sz="1100" dirty="0">
                <a:cs typeface="Calibri"/>
              </a:rPr>
              <a:t>Feature Engineering</a:t>
            </a:r>
          </a:p>
          <a:p>
            <a:pPr marL="285750" indent="-285750">
              <a:buFont typeface="Arial" panose="020B0604020202020204" pitchFamily="34" charset="0"/>
              <a:buChar char="•"/>
            </a:pPr>
            <a:r>
              <a:rPr lang="en-US" sz="1100" dirty="0">
                <a:cs typeface="Calibri"/>
              </a:rPr>
              <a:t>Model </a:t>
            </a:r>
            <a:r>
              <a:rPr lang="en-US" sz="1100">
                <a:cs typeface="Calibri"/>
              </a:rPr>
              <a:t>Experiments</a:t>
            </a:r>
          </a:p>
          <a:p>
            <a:pPr marL="285750" indent="-285750">
              <a:buFont typeface="Arial" panose="020B0604020202020204" pitchFamily="34" charset="0"/>
              <a:buChar char="•"/>
            </a:pPr>
            <a:r>
              <a:rPr lang="en-US" sz="1100" dirty="0">
                <a:cs typeface="Calibri"/>
              </a:rPr>
              <a:t>Model Selection</a:t>
            </a:r>
          </a:p>
          <a:p>
            <a:pPr marL="285750" indent="-285750">
              <a:buFont typeface="Arial" panose="020B0604020202020204" pitchFamily="34" charset="0"/>
              <a:buChar char="•"/>
            </a:pPr>
            <a:r>
              <a:rPr lang="en-US" sz="1100" dirty="0">
                <a:cs typeface="Calibri"/>
              </a:rPr>
              <a:t>Model Optimization</a:t>
            </a:r>
          </a:p>
          <a:p>
            <a:pPr marL="285750" indent="-285750">
              <a:buFont typeface="Arial" panose="020B0604020202020204" pitchFamily="34" charset="0"/>
              <a:buChar char="•"/>
            </a:pPr>
            <a:r>
              <a:rPr lang="en-US" sz="1100" dirty="0">
                <a:cs typeface="Calibri"/>
              </a:rPr>
              <a:t>Model Validation</a:t>
            </a:r>
          </a:p>
          <a:p>
            <a:pPr marL="285750" indent="-285750">
              <a:buFont typeface="Arial" panose="020B0604020202020204" pitchFamily="34" charset="0"/>
              <a:buChar char="•"/>
            </a:pPr>
            <a:r>
              <a:rPr lang="en-US" sz="1100" dirty="0">
                <a:cs typeface="Calibri"/>
              </a:rPr>
              <a:t>Model Artifacts </a:t>
            </a:r>
            <a:r>
              <a:rPr lang="en-US" sz="1100">
                <a:cs typeface="Calibri"/>
              </a:rPr>
              <a:t>Persistence</a:t>
            </a:r>
          </a:p>
          <a:p>
            <a:pPr marL="285750" indent="-285750">
              <a:buFont typeface="Arial" panose="020B0604020202020204" pitchFamily="34" charset="0"/>
              <a:buChar char="•"/>
            </a:pPr>
            <a:r>
              <a:rPr lang="en-US" sz="1100">
                <a:cs typeface="Calibri"/>
              </a:rPr>
              <a:t>MRM approval</a:t>
            </a:r>
            <a:endParaRPr lang="en-US" sz="1100" dirty="0">
              <a:cs typeface="Calibri"/>
            </a:endParaRPr>
          </a:p>
        </p:txBody>
      </p:sp>
      <p:sp>
        <p:nvSpPr>
          <p:cNvPr id="101" name="Rectangle: Rounded Corners 100">
            <a:extLst>
              <a:ext uri="{FF2B5EF4-FFF2-40B4-BE49-F238E27FC236}">
                <a16:creationId xmlns:a16="http://schemas.microsoft.com/office/drawing/2014/main" id="{96D7C22D-20AF-4235-861C-81609BB4F736}"/>
              </a:ext>
            </a:extLst>
          </p:cNvPr>
          <p:cNvSpPr/>
          <p:nvPr/>
        </p:nvSpPr>
        <p:spPr>
          <a:xfrm>
            <a:off x="6734174" y="4889789"/>
            <a:ext cx="2346611" cy="346364"/>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cs typeface="Calibri"/>
              </a:rPr>
              <a:t>Tableau | </a:t>
            </a:r>
            <a:r>
              <a:rPr lang="en-US" sz="1100">
                <a:solidFill>
                  <a:srgbClr val="000000"/>
                </a:solidFill>
                <a:cs typeface="Calibri"/>
              </a:rPr>
              <a:t>Panopticon | Power BI </a:t>
            </a:r>
            <a:endParaRPr lang="en-US" sz="1100" dirty="0">
              <a:solidFill>
                <a:srgbClr val="000000"/>
              </a:solidFill>
              <a:cs typeface="Calibri"/>
            </a:endParaRPr>
          </a:p>
        </p:txBody>
      </p:sp>
      <p:sp>
        <p:nvSpPr>
          <p:cNvPr id="102" name="TextBox 101">
            <a:extLst>
              <a:ext uri="{FF2B5EF4-FFF2-40B4-BE49-F238E27FC236}">
                <a16:creationId xmlns:a16="http://schemas.microsoft.com/office/drawing/2014/main" id="{5F343BD5-C58E-4BD8-BBE8-73086B2B968B}"/>
              </a:ext>
            </a:extLst>
          </p:cNvPr>
          <p:cNvSpPr txBox="1"/>
          <p:nvPr/>
        </p:nvSpPr>
        <p:spPr>
          <a:xfrm>
            <a:off x="7071012" y="5269922"/>
            <a:ext cx="1808018" cy="769441"/>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100">
                <a:cs typeface="Calibri"/>
              </a:rPr>
              <a:t>Data Exploration</a:t>
            </a:r>
            <a:endParaRPr lang="en-US" sz="1100" dirty="0">
              <a:cs typeface="Calibri"/>
            </a:endParaRPr>
          </a:p>
          <a:p>
            <a:pPr marL="285750" indent="-285750">
              <a:buFont typeface="Arial" panose="020B0604020202020204" pitchFamily="34" charset="0"/>
              <a:buChar char="•"/>
            </a:pPr>
            <a:r>
              <a:rPr lang="en-US" sz="1100">
                <a:cs typeface="Calibri"/>
              </a:rPr>
              <a:t>Dashboard generation</a:t>
            </a:r>
            <a:endParaRPr lang="en-US" sz="1100" dirty="0">
              <a:cs typeface="Calibri" panose="020F0502020204030204"/>
            </a:endParaRPr>
          </a:p>
          <a:p>
            <a:pPr marL="285750" indent="-285750">
              <a:buFont typeface="Arial" panose="020B0604020202020204" pitchFamily="34" charset="0"/>
              <a:buChar char="•"/>
            </a:pPr>
            <a:r>
              <a:rPr lang="en-US" sz="1100">
                <a:cs typeface="Calibri" panose="020F0502020204030204"/>
              </a:rPr>
              <a:t>Trend Analysis</a:t>
            </a:r>
            <a:endParaRPr lang="en-US" sz="1100" dirty="0">
              <a:cs typeface="Calibri" panose="020F0502020204030204"/>
            </a:endParaRPr>
          </a:p>
          <a:p>
            <a:pPr marL="285750" indent="-285750">
              <a:buFont typeface="Arial" panose="020B0604020202020204" pitchFamily="34" charset="0"/>
              <a:buChar char="•"/>
            </a:pPr>
            <a:r>
              <a:rPr lang="en-US" sz="1100">
                <a:cs typeface="Calibri" panose="020F0502020204030204"/>
              </a:rPr>
              <a:t>Report Generation</a:t>
            </a:r>
            <a:endParaRPr lang="en-US" sz="1100" dirty="0">
              <a:cs typeface="Calibri" panose="020F0502020204030204"/>
            </a:endParaRPr>
          </a:p>
        </p:txBody>
      </p:sp>
      <p:sp>
        <p:nvSpPr>
          <p:cNvPr id="104" name="TextBox 103">
            <a:extLst>
              <a:ext uri="{FF2B5EF4-FFF2-40B4-BE49-F238E27FC236}">
                <a16:creationId xmlns:a16="http://schemas.microsoft.com/office/drawing/2014/main" id="{1031A17A-0356-49CF-BB62-62FD1500DDF7}"/>
              </a:ext>
            </a:extLst>
          </p:cNvPr>
          <p:cNvSpPr txBox="1"/>
          <p:nvPr/>
        </p:nvSpPr>
        <p:spPr>
          <a:xfrm>
            <a:off x="7181743" y="1737879"/>
            <a:ext cx="206386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Model Development</a:t>
            </a:r>
            <a:endParaRPr lang="en-US"/>
          </a:p>
        </p:txBody>
      </p:sp>
      <p:sp>
        <p:nvSpPr>
          <p:cNvPr id="105" name="TextBox 104">
            <a:extLst>
              <a:ext uri="{FF2B5EF4-FFF2-40B4-BE49-F238E27FC236}">
                <a16:creationId xmlns:a16="http://schemas.microsoft.com/office/drawing/2014/main" id="{C5C2426B-5951-44C3-99D4-70B4319B38F8}"/>
              </a:ext>
            </a:extLst>
          </p:cNvPr>
          <p:cNvSpPr txBox="1"/>
          <p:nvPr/>
        </p:nvSpPr>
        <p:spPr>
          <a:xfrm>
            <a:off x="7458834" y="4647333"/>
            <a:ext cx="206386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BI Activities</a:t>
            </a:r>
            <a:endParaRPr lang="en-US"/>
          </a:p>
        </p:txBody>
      </p:sp>
      <p:sp>
        <p:nvSpPr>
          <p:cNvPr id="106" name="Rectangle: Rounded Corners 105">
            <a:extLst>
              <a:ext uri="{FF2B5EF4-FFF2-40B4-BE49-F238E27FC236}">
                <a16:creationId xmlns:a16="http://schemas.microsoft.com/office/drawing/2014/main" id="{A51453A7-0A27-4163-83D5-5CC0D5BBDDFA}"/>
              </a:ext>
            </a:extLst>
          </p:cNvPr>
          <p:cNvSpPr/>
          <p:nvPr/>
        </p:nvSpPr>
        <p:spPr>
          <a:xfrm>
            <a:off x="9403982" y="1701658"/>
            <a:ext cx="2062553" cy="4496179"/>
          </a:xfrm>
          <a:prstGeom prst="roundRect">
            <a:avLst/>
          </a:prstGeom>
          <a:ln>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7" name="TextBox 106">
            <a:extLst>
              <a:ext uri="{FF2B5EF4-FFF2-40B4-BE49-F238E27FC236}">
                <a16:creationId xmlns:a16="http://schemas.microsoft.com/office/drawing/2014/main" id="{AC65C41F-B843-45DF-8A33-E50B79CA1528}"/>
              </a:ext>
            </a:extLst>
          </p:cNvPr>
          <p:cNvSpPr txBox="1"/>
          <p:nvPr/>
        </p:nvSpPr>
        <p:spPr>
          <a:xfrm>
            <a:off x="9666902" y="1426151"/>
            <a:ext cx="161358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Model Deployment</a:t>
            </a:r>
            <a:endParaRPr lang="en-US"/>
          </a:p>
        </p:txBody>
      </p:sp>
      <p:cxnSp>
        <p:nvCxnSpPr>
          <p:cNvPr id="109" name="Straight Arrow Connector 108">
            <a:extLst>
              <a:ext uri="{FF2B5EF4-FFF2-40B4-BE49-F238E27FC236}">
                <a16:creationId xmlns:a16="http://schemas.microsoft.com/office/drawing/2014/main" id="{1FAFA912-B6A0-455B-87D5-8B358009A70B}"/>
              </a:ext>
            </a:extLst>
          </p:cNvPr>
          <p:cNvCxnSpPr/>
          <p:nvPr/>
        </p:nvCxnSpPr>
        <p:spPr>
          <a:xfrm flipH="1">
            <a:off x="6436301" y="3842040"/>
            <a:ext cx="280556" cy="519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77FE3B84-4F73-44BB-8AB6-0D298826C234}"/>
              </a:ext>
            </a:extLst>
          </p:cNvPr>
          <p:cNvCxnSpPr>
            <a:cxnSpLocks/>
          </p:cNvCxnSpPr>
          <p:nvPr/>
        </p:nvCxnSpPr>
        <p:spPr>
          <a:xfrm flipH="1">
            <a:off x="6436300" y="5461290"/>
            <a:ext cx="280556" cy="519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12" name="Rectangle: Rounded Corners 111">
            <a:extLst>
              <a:ext uri="{FF2B5EF4-FFF2-40B4-BE49-F238E27FC236}">
                <a16:creationId xmlns:a16="http://schemas.microsoft.com/office/drawing/2014/main" id="{39FE5FD1-B34B-4CEC-92DB-4D1EDBF12D40}"/>
              </a:ext>
            </a:extLst>
          </p:cNvPr>
          <p:cNvSpPr/>
          <p:nvPr/>
        </p:nvSpPr>
        <p:spPr>
          <a:xfrm>
            <a:off x="9497692" y="3083205"/>
            <a:ext cx="1775110" cy="6743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cs typeface="Calibri"/>
              </a:rPr>
              <a:t>KubeFlow</a:t>
            </a:r>
          </a:p>
          <a:p>
            <a:pPr marL="171450" indent="-171450" algn="ctr">
              <a:buFont typeface="Arial"/>
              <a:buChar char="•"/>
            </a:pPr>
            <a:r>
              <a:rPr lang="en-US" sz="900">
                <a:cs typeface="Calibri"/>
              </a:rPr>
              <a:t>Create ML/Data Pipelines containing data and model development steps independently</a:t>
            </a:r>
            <a:endParaRPr lang="en-US" sz="900" dirty="0">
              <a:cs typeface="Calibri"/>
            </a:endParaRPr>
          </a:p>
        </p:txBody>
      </p:sp>
      <p:sp>
        <p:nvSpPr>
          <p:cNvPr id="113" name="Rectangle: Rounded Corners 112">
            <a:extLst>
              <a:ext uri="{FF2B5EF4-FFF2-40B4-BE49-F238E27FC236}">
                <a16:creationId xmlns:a16="http://schemas.microsoft.com/office/drawing/2014/main" id="{B3AD76F7-F2F1-4F74-8688-8BFA19234B13}"/>
              </a:ext>
            </a:extLst>
          </p:cNvPr>
          <p:cNvSpPr/>
          <p:nvPr/>
        </p:nvSpPr>
        <p:spPr>
          <a:xfrm>
            <a:off x="9506351" y="4132643"/>
            <a:ext cx="1766451" cy="7100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cs typeface="Calibri"/>
              </a:rPr>
              <a:t>Dockers &amp; Kubernetes</a:t>
            </a:r>
            <a:endParaRPr lang="en-US">
              <a:cs typeface="Calibri"/>
            </a:endParaRPr>
          </a:p>
          <a:p>
            <a:pPr marL="171450" indent="-171450" algn="ctr">
              <a:buFont typeface="Arial"/>
              <a:buChar char="•"/>
            </a:pPr>
            <a:r>
              <a:rPr lang="en-US" sz="900">
                <a:cs typeface="Calibri"/>
              </a:rPr>
              <a:t>Spin containers</a:t>
            </a:r>
            <a:endParaRPr lang="en-US">
              <a:cs typeface="Calibri"/>
            </a:endParaRPr>
          </a:p>
          <a:p>
            <a:pPr marL="171450" indent="-171450" algn="ctr">
              <a:buFont typeface="Arial"/>
              <a:buChar char="•"/>
            </a:pPr>
            <a:r>
              <a:rPr lang="en-US" sz="900">
                <a:cs typeface="Calibri"/>
              </a:rPr>
              <a:t>Integrate Kubernetes to manage virtualization </a:t>
            </a:r>
            <a:r>
              <a:rPr lang="en-US" sz="900" dirty="0">
                <a:cs typeface="Calibri"/>
              </a:rPr>
              <a:t>requests</a:t>
            </a:r>
          </a:p>
        </p:txBody>
      </p:sp>
      <p:sp>
        <p:nvSpPr>
          <p:cNvPr id="114" name="Rectangle: Rounded Corners 113">
            <a:extLst>
              <a:ext uri="{FF2B5EF4-FFF2-40B4-BE49-F238E27FC236}">
                <a16:creationId xmlns:a16="http://schemas.microsoft.com/office/drawing/2014/main" id="{6B16A6F9-3DCD-4170-BD6B-F005E1699ED9}"/>
              </a:ext>
            </a:extLst>
          </p:cNvPr>
          <p:cNvSpPr/>
          <p:nvPr/>
        </p:nvSpPr>
        <p:spPr>
          <a:xfrm>
            <a:off x="9506987" y="1825947"/>
            <a:ext cx="1777010" cy="5729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Calibri"/>
              </a:rPr>
              <a:t>GitHub | Bitbucket</a:t>
            </a:r>
          </a:p>
          <a:p>
            <a:pPr marL="171450" indent="-171450" algn="ctr">
              <a:buFont typeface="Arial"/>
              <a:buChar char="•"/>
            </a:pPr>
            <a:r>
              <a:rPr lang="en-US" sz="900">
                <a:cs typeface="Calibri"/>
              </a:rPr>
              <a:t>Source Code VC</a:t>
            </a:r>
          </a:p>
          <a:p>
            <a:pPr marL="171450" indent="-171450" algn="ctr">
              <a:buFont typeface="Arial"/>
              <a:buChar char="•"/>
            </a:pPr>
            <a:r>
              <a:rPr lang="en-US" sz="900">
                <a:cs typeface="Calibri"/>
              </a:rPr>
              <a:t>Envir.config &amp; model params</a:t>
            </a:r>
            <a:endParaRPr lang="en-US" sz="900" dirty="0">
              <a:cs typeface="Calibri"/>
            </a:endParaRPr>
          </a:p>
        </p:txBody>
      </p:sp>
      <p:sp>
        <p:nvSpPr>
          <p:cNvPr id="115" name="Rectangle: Rounded Corners 114">
            <a:extLst>
              <a:ext uri="{FF2B5EF4-FFF2-40B4-BE49-F238E27FC236}">
                <a16:creationId xmlns:a16="http://schemas.microsoft.com/office/drawing/2014/main" id="{E3C0BCB2-5580-4B81-9C9C-CB6F230E19ED}"/>
              </a:ext>
            </a:extLst>
          </p:cNvPr>
          <p:cNvSpPr/>
          <p:nvPr/>
        </p:nvSpPr>
        <p:spPr>
          <a:xfrm>
            <a:off x="9498325" y="5166455"/>
            <a:ext cx="1783769" cy="6927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cs typeface="Calibri"/>
              </a:rPr>
              <a:t>Model Monitoring</a:t>
            </a:r>
            <a:endParaRPr lang="en-US">
              <a:cs typeface="Calibri"/>
            </a:endParaRPr>
          </a:p>
          <a:p>
            <a:pPr marL="171450" indent="-171450" algn="ctr">
              <a:buFont typeface="Arial"/>
              <a:buChar char="•"/>
            </a:pPr>
            <a:r>
              <a:rPr lang="en-US" sz="900">
                <a:cs typeface="Calibri"/>
              </a:rPr>
              <a:t>Data drift monitoring</a:t>
            </a:r>
          </a:p>
          <a:p>
            <a:pPr marL="171450" indent="-171450" algn="ctr">
              <a:buFont typeface="Arial"/>
              <a:buChar char="•"/>
            </a:pPr>
            <a:r>
              <a:rPr lang="en-US" sz="900">
                <a:cs typeface="Calibri"/>
              </a:rPr>
              <a:t>Alerts and event triggers</a:t>
            </a:r>
          </a:p>
        </p:txBody>
      </p:sp>
      <p:cxnSp>
        <p:nvCxnSpPr>
          <p:cNvPr id="119" name="Straight Arrow Connector 118">
            <a:extLst>
              <a:ext uri="{FF2B5EF4-FFF2-40B4-BE49-F238E27FC236}">
                <a16:creationId xmlns:a16="http://schemas.microsoft.com/office/drawing/2014/main" id="{5FF6FED3-500D-416B-A6E2-CF1ED046D6A1}"/>
              </a:ext>
            </a:extLst>
          </p:cNvPr>
          <p:cNvCxnSpPr>
            <a:cxnSpLocks/>
          </p:cNvCxnSpPr>
          <p:nvPr/>
        </p:nvCxnSpPr>
        <p:spPr>
          <a:xfrm flipH="1">
            <a:off x="9112593" y="3934966"/>
            <a:ext cx="280556" cy="519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1ADFF180-42D3-47F2-B02E-65860C7A28DC}"/>
              </a:ext>
            </a:extLst>
          </p:cNvPr>
          <p:cNvSpPr txBox="1"/>
          <p:nvPr/>
        </p:nvSpPr>
        <p:spPr>
          <a:xfrm rot="16200000">
            <a:off x="8668721" y="3082347"/>
            <a:ext cx="120188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(Service Id only)</a:t>
            </a:r>
            <a:r>
              <a:rPr lang="en-US" sz="1100">
                <a:cs typeface="Calibri"/>
              </a:rPr>
              <a:t>​</a:t>
            </a:r>
            <a:endParaRPr lang="en-US" sz="1100"/>
          </a:p>
        </p:txBody>
      </p:sp>
      <p:sp>
        <p:nvSpPr>
          <p:cNvPr id="121" name="TextBox 120">
            <a:extLst>
              <a:ext uri="{FF2B5EF4-FFF2-40B4-BE49-F238E27FC236}">
                <a16:creationId xmlns:a16="http://schemas.microsoft.com/office/drawing/2014/main" id="{E28AACFD-AB06-4E29-9431-2CCDB61F822C}"/>
              </a:ext>
            </a:extLst>
          </p:cNvPr>
          <p:cNvSpPr txBox="1"/>
          <p:nvPr/>
        </p:nvSpPr>
        <p:spPr>
          <a:xfrm>
            <a:off x="9109173" y="3743494"/>
            <a:ext cx="63904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RW</a:t>
            </a:r>
            <a:endParaRPr lang="en-US"/>
          </a:p>
        </p:txBody>
      </p:sp>
      <p:cxnSp>
        <p:nvCxnSpPr>
          <p:cNvPr id="122" name="Straight Arrow Connector 121">
            <a:extLst>
              <a:ext uri="{FF2B5EF4-FFF2-40B4-BE49-F238E27FC236}">
                <a16:creationId xmlns:a16="http://schemas.microsoft.com/office/drawing/2014/main" id="{6A05D6D7-92C9-4648-BE37-5E1BF3612315}"/>
              </a:ext>
            </a:extLst>
          </p:cNvPr>
          <p:cNvCxnSpPr/>
          <p:nvPr/>
        </p:nvCxnSpPr>
        <p:spPr>
          <a:xfrm flipH="1">
            <a:off x="9620525" y="2373584"/>
            <a:ext cx="4942" cy="7019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77FA2D8D-3C02-42F5-8812-11EE06A375B6}"/>
              </a:ext>
            </a:extLst>
          </p:cNvPr>
          <p:cNvCxnSpPr>
            <a:cxnSpLocks/>
          </p:cNvCxnSpPr>
          <p:nvPr/>
        </p:nvCxnSpPr>
        <p:spPr>
          <a:xfrm>
            <a:off x="9607514" y="3771286"/>
            <a:ext cx="3717" cy="338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445FB611-2F09-4FF9-9EB9-D2BE69DDCC92}"/>
              </a:ext>
            </a:extLst>
          </p:cNvPr>
          <p:cNvCxnSpPr>
            <a:cxnSpLocks/>
          </p:cNvCxnSpPr>
          <p:nvPr/>
        </p:nvCxnSpPr>
        <p:spPr>
          <a:xfrm>
            <a:off x="9607514" y="4838678"/>
            <a:ext cx="3717" cy="338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C2C7C3D2-F8C6-4E7F-A2DE-AED400D5F8EA}"/>
              </a:ext>
            </a:extLst>
          </p:cNvPr>
          <p:cNvSpPr txBox="1"/>
          <p:nvPr/>
        </p:nvSpPr>
        <p:spPr>
          <a:xfrm>
            <a:off x="9714992" y="2432064"/>
            <a:ext cx="2001897"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Get source code and push it to container instance along with </a:t>
            </a:r>
            <a:r>
              <a:rPr lang="en-US" sz="1000"/>
              <a:t>required dependencies</a:t>
            </a:r>
            <a:endParaRPr lang="en-US">
              <a:cs typeface="Calibri"/>
            </a:endParaRPr>
          </a:p>
        </p:txBody>
      </p:sp>
      <p:sp>
        <p:nvSpPr>
          <p:cNvPr id="127" name="TextBox 126">
            <a:extLst>
              <a:ext uri="{FF2B5EF4-FFF2-40B4-BE49-F238E27FC236}">
                <a16:creationId xmlns:a16="http://schemas.microsoft.com/office/drawing/2014/main" id="{861D4876-5243-4128-85B8-1F68B5D1BC11}"/>
              </a:ext>
            </a:extLst>
          </p:cNvPr>
          <p:cNvSpPr txBox="1"/>
          <p:nvPr/>
        </p:nvSpPr>
        <p:spPr>
          <a:xfrm>
            <a:off x="9663037" y="3739586"/>
            <a:ext cx="18633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Compile and get pipeline.yaml generated</a:t>
            </a:r>
            <a:endParaRPr lang="en-US"/>
          </a:p>
        </p:txBody>
      </p:sp>
      <p:sp>
        <p:nvSpPr>
          <p:cNvPr id="128" name="TextBox 127">
            <a:extLst>
              <a:ext uri="{FF2B5EF4-FFF2-40B4-BE49-F238E27FC236}">
                <a16:creationId xmlns:a16="http://schemas.microsoft.com/office/drawing/2014/main" id="{C0A08C4F-1C1D-4617-B5D7-1AF49EA4A1A8}"/>
              </a:ext>
            </a:extLst>
          </p:cNvPr>
          <p:cNvSpPr txBox="1"/>
          <p:nvPr/>
        </p:nvSpPr>
        <p:spPr>
          <a:xfrm>
            <a:off x="9611080" y="4804654"/>
            <a:ext cx="180273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cs typeface="Calibri"/>
              </a:rPr>
              <a:t>Push pipeline.yaml to docker </a:t>
            </a:r>
            <a:r>
              <a:rPr lang="en-US" sz="1000" dirty="0">
                <a:cs typeface="Calibri"/>
              </a:rPr>
              <a:t>image and run the pipeline</a:t>
            </a:r>
          </a:p>
        </p:txBody>
      </p:sp>
      <p:sp>
        <p:nvSpPr>
          <p:cNvPr id="131" name="TextBox 130">
            <a:extLst>
              <a:ext uri="{FF2B5EF4-FFF2-40B4-BE49-F238E27FC236}">
                <a16:creationId xmlns:a16="http://schemas.microsoft.com/office/drawing/2014/main" id="{45869415-7AAF-41E8-AC1C-F4F7E0D2240E}"/>
              </a:ext>
            </a:extLst>
          </p:cNvPr>
          <p:cNvSpPr txBox="1"/>
          <p:nvPr/>
        </p:nvSpPr>
        <p:spPr>
          <a:xfrm>
            <a:off x="9602422" y="5852403"/>
            <a:ext cx="206250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cs typeface="Calibri"/>
              </a:rPr>
              <a:t>Trigger model retraining based on </a:t>
            </a:r>
            <a:r>
              <a:rPr lang="en-US" sz="1000">
                <a:cs typeface="Calibri"/>
              </a:rPr>
              <a:t>threshold set and generate </a:t>
            </a:r>
            <a:r>
              <a:rPr lang="en-US" sz="1000" dirty="0">
                <a:cs typeface="Calibri"/>
              </a:rPr>
              <a:t>automated reports</a:t>
            </a:r>
          </a:p>
        </p:txBody>
      </p:sp>
      <p:cxnSp>
        <p:nvCxnSpPr>
          <p:cNvPr id="133" name="Straight Arrow Connector 132">
            <a:extLst>
              <a:ext uri="{FF2B5EF4-FFF2-40B4-BE49-F238E27FC236}">
                <a16:creationId xmlns:a16="http://schemas.microsoft.com/office/drawing/2014/main" id="{96BFC67A-AB58-41C3-A3CF-D062F9606B75}"/>
              </a:ext>
            </a:extLst>
          </p:cNvPr>
          <p:cNvCxnSpPr/>
          <p:nvPr/>
        </p:nvCxnSpPr>
        <p:spPr>
          <a:xfrm flipV="1">
            <a:off x="4521776" y="1387186"/>
            <a:ext cx="1" cy="355022"/>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BE3CC380-D0F0-4347-A066-925E42266330}"/>
              </a:ext>
            </a:extLst>
          </p:cNvPr>
          <p:cNvCxnSpPr/>
          <p:nvPr/>
        </p:nvCxnSpPr>
        <p:spPr>
          <a:xfrm>
            <a:off x="4508789" y="1382856"/>
            <a:ext cx="5108862" cy="0"/>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85B0CDEF-79D5-4630-9DED-875DAEF6129B}"/>
              </a:ext>
            </a:extLst>
          </p:cNvPr>
          <p:cNvCxnSpPr>
            <a:cxnSpLocks/>
          </p:cNvCxnSpPr>
          <p:nvPr/>
        </p:nvCxnSpPr>
        <p:spPr>
          <a:xfrm flipH="1">
            <a:off x="9611866" y="1377786"/>
            <a:ext cx="4942" cy="45082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C783E24C-203E-4DC6-A125-A4584095701C}"/>
              </a:ext>
            </a:extLst>
          </p:cNvPr>
          <p:cNvSpPr txBox="1"/>
          <p:nvPr/>
        </p:nvSpPr>
        <p:spPr>
          <a:xfrm>
            <a:off x="5616286" y="1165513"/>
            <a:ext cx="3479219"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Code Coverage | </a:t>
            </a:r>
            <a:r>
              <a:rPr lang="en-US" sz="1100">
                <a:cs typeface="Calibri"/>
              </a:rPr>
              <a:t>Unit Tests | Data Quality Checks</a:t>
            </a:r>
            <a:endParaRPr lang="en-US"/>
          </a:p>
        </p:txBody>
      </p:sp>
      <p:sp>
        <p:nvSpPr>
          <p:cNvPr id="138" name="TextBox 137">
            <a:extLst>
              <a:ext uri="{FF2B5EF4-FFF2-40B4-BE49-F238E27FC236}">
                <a16:creationId xmlns:a16="http://schemas.microsoft.com/office/drawing/2014/main" id="{1B7D84B0-8966-4F4D-8B96-802C922303F6}"/>
              </a:ext>
            </a:extLst>
          </p:cNvPr>
          <p:cNvSpPr txBox="1"/>
          <p:nvPr/>
        </p:nvSpPr>
        <p:spPr>
          <a:xfrm>
            <a:off x="6398877" y="3622267"/>
            <a:ext cx="63904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RW</a:t>
            </a:r>
            <a:endParaRPr lang="en-US"/>
          </a:p>
        </p:txBody>
      </p:sp>
      <p:sp>
        <p:nvSpPr>
          <p:cNvPr id="139" name="TextBox 138">
            <a:extLst>
              <a:ext uri="{FF2B5EF4-FFF2-40B4-BE49-F238E27FC236}">
                <a16:creationId xmlns:a16="http://schemas.microsoft.com/office/drawing/2014/main" id="{296B4794-BF24-4342-A30D-86AF20368B08}"/>
              </a:ext>
            </a:extLst>
          </p:cNvPr>
          <p:cNvSpPr txBox="1"/>
          <p:nvPr/>
        </p:nvSpPr>
        <p:spPr>
          <a:xfrm>
            <a:off x="6398878" y="5232858"/>
            <a:ext cx="63904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RO</a:t>
            </a:r>
            <a:endParaRPr lang="en-US"/>
          </a:p>
        </p:txBody>
      </p:sp>
      <p:cxnSp>
        <p:nvCxnSpPr>
          <p:cNvPr id="140" name="Straight Arrow Connector 139">
            <a:extLst>
              <a:ext uri="{FF2B5EF4-FFF2-40B4-BE49-F238E27FC236}">
                <a16:creationId xmlns:a16="http://schemas.microsoft.com/office/drawing/2014/main" id="{0B85A11D-95A6-404A-84ED-5315C943730A}"/>
              </a:ext>
            </a:extLst>
          </p:cNvPr>
          <p:cNvCxnSpPr>
            <a:cxnSpLocks/>
          </p:cNvCxnSpPr>
          <p:nvPr/>
        </p:nvCxnSpPr>
        <p:spPr>
          <a:xfrm>
            <a:off x="4171085" y="6422447"/>
            <a:ext cx="5489862" cy="0"/>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A34A5723-C33A-4420-8196-8BE6F3C6B7B2}"/>
              </a:ext>
            </a:extLst>
          </p:cNvPr>
          <p:cNvCxnSpPr>
            <a:cxnSpLocks/>
          </p:cNvCxnSpPr>
          <p:nvPr/>
        </p:nvCxnSpPr>
        <p:spPr>
          <a:xfrm flipH="1" flipV="1">
            <a:off x="4173957" y="6184131"/>
            <a:ext cx="4942" cy="25056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504F15EF-3BCF-4E8A-A1F7-8553E69A6BB0}"/>
              </a:ext>
            </a:extLst>
          </p:cNvPr>
          <p:cNvCxnSpPr>
            <a:cxnSpLocks/>
          </p:cNvCxnSpPr>
          <p:nvPr/>
        </p:nvCxnSpPr>
        <p:spPr>
          <a:xfrm flipV="1">
            <a:off x="9656616" y="6158344"/>
            <a:ext cx="8660" cy="251113"/>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D8CE8C5B-0DB9-4262-8E21-6847B98664DE}"/>
              </a:ext>
            </a:extLst>
          </p:cNvPr>
          <p:cNvSpPr txBox="1"/>
          <p:nvPr/>
        </p:nvSpPr>
        <p:spPr>
          <a:xfrm>
            <a:off x="5871729" y="6373957"/>
            <a:ext cx="245744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Storing model artifacts and its outputs</a:t>
            </a:r>
          </a:p>
        </p:txBody>
      </p:sp>
      <p:sp>
        <p:nvSpPr>
          <p:cNvPr id="146" name="TextBox 145">
            <a:extLst>
              <a:ext uri="{FF2B5EF4-FFF2-40B4-BE49-F238E27FC236}">
                <a16:creationId xmlns:a16="http://schemas.microsoft.com/office/drawing/2014/main" id="{AB9C3CD5-9942-432C-9997-45FD39CF8D86}"/>
              </a:ext>
            </a:extLst>
          </p:cNvPr>
          <p:cNvSpPr txBox="1"/>
          <p:nvPr/>
        </p:nvSpPr>
        <p:spPr>
          <a:xfrm rot="5400000">
            <a:off x="9149197" y="3854139"/>
            <a:ext cx="4916628"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t>Pipeline.yaml is promoted </a:t>
            </a:r>
            <a:r>
              <a:rPr lang="en-US" sz="900"/>
              <a:t>to further lanes once overall automated ML suite is successfully run in Dev</a:t>
            </a:r>
            <a:endParaRPr lang="en-US" sz="900">
              <a:cs typeface="Calibri"/>
            </a:endParaRPr>
          </a:p>
        </p:txBody>
      </p:sp>
      <p:sp>
        <p:nvSpPr>
          <p:cNvPr id="147" name="TextBox 146">
            <a:extLst>
              <a:ext uri="{FF2B5EF4-FFF2-40B4-BE49-F238E27FC236}">
                <a16:creationId xmlns:a16="http://schemas.microsoft.com/office/drawing/2014/main" id="{78B5BAD5-2920-4B9C-955B-F4C54CA4DABD}"/>
              </a:ext>
            </a:extLst>
          </p:cNvPr>
          <p:cNvSpPr txBox="1"/>
          <p:nvPr/>
        </p:nvSpPr>
        <p:spPr>
          <a:xfrm>
            <a:off x="459798" y="4572866"/>
            <a:ext cx="136640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t>User-level temporary </a:t>
            </a:r>
            <a:r>
              <a:rPr lang="en-US" sz="900" dirty="0"/>
              <a:t>Sandbox setup will help Data Scientist perform their custom/preferred feature engineering activities</a:t>
            </a:r>
          </a:p>
        </p:txBody>
      </p:sp>
      <p:sp>
        <p:nvSpPr>
          <p:cNvPr id="148" name="TextBox 147">
            <a:extLst>
              <a:ext uri="{FF2B5EF4-FFF2-40B4-BE49-F238E27FC236}">
                <a16:creationId xmlns:a16="http://schemas.microsoft.com/office/drawing/2014/main" id="{7BEABFC6-76F7-4AD0-9770-20D2D52C0A4C}"/>
              </a:ext>
            </a:extLst>
          </p:cNvPr>
          <p:cNvSpPr txBox="1"/>
          <p:nvPr/>
        </p:nvSpPr>
        <p:spPr>
          <a:xfrm>
            <a:off x="459798" y="1299730"/>
            <a:ext cx="1478972" cy="10618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t>Data ingestion tool interacts with Collibra server to get metadata payload and creates the table and performs data </a:t>
            </a:r>
            <a:r>
              <a:rPr lang="en-US" sz="900"/>
              <a:t>load upon matching schema.</a:t>
            </a:r>
            <a:endParaRPr lang="en-US" sz="900">
              <a:cs typeface="Calibri"/>
            </a:endParaRPr>
          </a:p>
        </p:txBody>
      </p:sp>
      <p:sp>
        <p:nvSpPr>
          <p:cNvPr id="103" name="Rectangle: Rounded Corners 102">
            <a:extLst>
              <a:ext uri="{FF2B5EF4-FFF2-40B4-BE49-F238E27FC236}">
                <a16:creationId xmlns:a16="http://schemas.microsoft.com/office/drawing/2014/main" id="{820673ED-2A15-4040-A4A5-7B07AFC21C2A}"/>
              </a:ext>
            </a:extLst>
          </p:cNvPr>
          <p:cNvSpPr/>
          <p:nvPr/>
        </p:nvSpPr>
        <p:spPr>
          <a:xfrm>
            <a:off x="751798" y="3770166"/>
            <a:ext cx="1152525" cy="352425"/>
          </a:xfrm>
          <a:prstGeom prst="round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r>
              <a:rPr lang="en-US" sz="1050" dirty="0">
                <a:ea typeface="+mn-lt"/>
                <a:cs typeface="+mn-lt"/>
              </a:rPr>
              <a:t>Data Lake</a:t>
            </a:r>
            <a:endParaRPr lang="en-US" dirty="0"/>
          </a:p>
        </p:txBody>
      </p:sp>
      <p:sp>
        <p:nvSpPr>
          <p:cNvPr id="110" name="TextBox 109">
            <a:extLst>
              <a:ext uri="{FF2B5EF4-FFF2-40B4-BE49-F238E27FC236}">
                <a16:creationId xmlns:a16="http://schemas.microsoft.com/office/drawing/2014/main" id="{C1F0BC0C-C739-428A-BD89-B0D7C600FB4A}"/>
              </a:ext>
            </a:extLst>
          </p:cNvPr>
          <p:cNvSpPr txBox="1"/>
          <p:nvPr/>
        </p:nvSpPr>
        <p:spPr>
          <a:xfrm>
            <a:off x="3612910" y="4386423"/>
            <a:ext cx="106819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cs typeface="Calibri"/>
              </a:rPr>
              <a:t>Delta Lake</a:t>
            </a:r>
          </a:p>
        </p:txBody>
      </p:sp>
      <p:cxnSp>
        <p:nvCxnSpPr>
          <p:cNvPr id="116" name="Straight Arrow Connector 115">
            <a:extLst>
              <a:ext uri="{FF2B5EF4-FFF2-40B4-BE49-F238E27FC236}">
                <a16:creationId xmlns:a16="http://schemas.microsoft.com/office/drawing/2014/main" id="{95551B22-E6C8-4E64-AAEF-D61857B98619}"/>
              </a:ext>
            </a:extLst>
          </p:cNvPr>
          <p:cNvCxnSpPr>
            <a:cxnSpLocks/>
          </p:cNvCxnSpPr>
          <p:nvPr/>
        </p:nvCxnSpPr>
        <p:spPr>
          <a:xfrm>
            <a:off x="4371595" y="5012345"/>
            <a:ext cx="454750" cy="866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0888532-135A-4373-9768-3844BDB31066}"/>
              </a:ext>
            </a:extLst>
          </p:cNvPr>
          <p:cNvSpPr txBox="1"/>
          <p:nvPr/>
        </p:nvSpPr>
        <p:spPr>
          <a:xfrm rot="5400000">
            <a:off x="11123468" y="4984173"/>
            <a:ext cx="55245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deploy</a:t>
            </a:r>
            <a:endParaRPr lang="en-US"/>
          </a:p>
        </p:txBody>
      </p:sp>
      <p:sp>
        <p:nvSpPr>
          <p:cNvPr id="117" name="TextBox 116">
            <a:extLst>
              <a:ext uri="{FF2B5EF4-FFF2-40B4-BE49-F238E27FC236}">
                <a16:creationId xmlns:a16="http://schemas.microsoft.com/office/drawing/2014/main" id="{7375DD26-2B5D-4C69-AA7A-64766A03F3EB}"/>
              </a:ext>
            </a:extLst>
          </p:cNvPr>
          <p:cNvSpPr txBox="1"/>
          <p:nvPr/>
        </p:nvSpPr>
        <p:spPr>
          <a:xfrm rot="5400000">
            <a:off x="11123468" y="4066310"/>
            <a:ext cx="55245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build</a:t>
            </a:r>
          </a:p>
        </p:txBody>
      </p:sp>
      <p:sp>
        <p:nvSpPr>
          <p:cNvPr id="118" name="TextBox 117">
            <a:extLst>
              <a:ext uri="{FF2B5EF4-FFF2-40B4-BE49-F238E27FC236}">
                <a16:creationId xmlns:a16="http://schemas.microsoft.com/office/drawing/2014/main" id="{0FFB8FEF-C56F-4652-AB0A-755183B279D6}"/>
              </a:ext>
            </a:extLst>
          </p:cNvPr>
          <p:cNvSpPr txBox="1"/>
          <p:nvPr/>
        </p:nvSpPr>
        <p:spPr>
          <a:xfrm rot="5400000">
            <a:off x="11080173" y="2927639"/>
            <a:ext cx="630381"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develop</a:t>
            </a:r>
            <a:endParaRPr lang="en-US"/>
          </a:p>
        </p:txBody>
      </p:sp>
    </p:spTree>
    <p:extLst>
      <p:ext uri="{BB962C8B-B14F-4D97-AF65-F5344CB8AC3E}">
        <p14:creationId xmlns:p14="http://schemas.microsoft.com/office/powerpoint/2010/main" val="3915585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52E0188-8F0A-46E2-B603-AF3021581C58}"/>
              </a:ext>
            </a:extLst>
          </p:cNvPr>
          <p:cNvSpPr>
            <a:spLocks noGrp="1"/>
          </p:cNvSpPr>
          <p:nvPr>
            <p:ph type="title"/>
          </p:nvPr>
        </p:nvSpPr>
        <p:spPr>
          <a:xfrm>
            <a:off x="457200" y="269875"/>
            <a:ext cx="10480964" cy="806019"/>
          </a:xfrm>
        </p:spPr>
        <p:txBody>
          <a:bodyPr>
            <a:normAutofit/>
          </a:bodyPr>
          <a:lstStyle/>
          <a:p>
            <a:r>
              <a:rPr lang="en-US" sz="2000" b="1">
                <a:ea typeface="+mj-lt"/>
                <a:cs typeface="+mj-lt"/>
              </a:rPr>
              <a:t>ML model development and deployment Solution</a:t>
            </a:r>
            <a:endParaRPr lang="en-US"/>
          </a:p>
        </p:txBody>
      </p:sp>
      <p:sp>
        <p:nvSpPr>
          <p:cNvPr id="2" name="TextBox 1">
            <a:extLst>
              <a:ext uri="{FF2B5EF4-FFF2-40B4-BE49-F238E27FC236}">
                <a16:creationId xmlns:a16="http://schemas.microsoft.com/office/drawing/2014/main" id="{D41A391A-4907-45A5-96C5-0FA781A799AD}"/>
              </a:ext>
            </a:extLst>
          </p:cNvPr>
          <p:cNvSpPr txBox="1"/>
          <p:nvPr/>
        </p:nvSpPr>
        <p:spPr>
          <a:xfrm>
            <a:off x="481446" y="931718"/>
            <a:ext cx="10778835" cy="56015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Advantages:</a:t>
            </a:r>
          </a:p>
          <a:p>
            <a:endParaRPr lang="en-US" b="1" dirty="0">
              <a:cs typeface="Calibri"/>
            </a:endParaRPr>
          </a:p>
          <a:p>
            <a:r>
              <a:rPr lang="en-US" sz="1400" dirty="0">
                <a:cs typeface="Calibri"/>
              </a:rPr>
              <a:t>With "Feature Store",</a:t>
            </a:r>
          </a:p>
          <a:p>
            <a:pPr marL="285750" indent="-285750">
              <a:buFont typeface="Arial"/>
              <a:buChar char="•"/>
            </a:pPr>
            <a:r>
              <a:rPr lang="en-US" sz="1400" dirty="0">
                <a:cs typeface="Calibri"/>
              </a:rPr>
              <a:t>Raw data is processed, transformed, standardized and then designated features are only stored into Feature Store. This way, most of feature engineering activities are taken care and 'readily usable' features will be available for Data Scientists.</a:t>
            </a:r>
          </a:p>
          <a:p>
            <a:pPr marL="285750" indent="-285750">
              <a:buFont typeface="Arial"/>
              <a:buChar char="•"/>
            </a:pPr>
            <a:endParaRPr lang="en-US" sz="1400" dirty="0">
              <a:cs typeface="Calibri"/>
            </a:endParaRPr>
          </a:p>
          <a:p>
            <a:pPr marL="285750" indent="-285750">
              <a:buFont typeface="Arial"/>
              <a:buChar char="•"/>
            </a:pPr>
            <a:r>
              <a:rPr lang="en-US" sz="1400" dirty="0">
                <a:cs typeface="Calibri"/>
              </a:rPr>
              <a:t>Precomputed stats stored in Feature Store will help data users understand about the data distribution and cardinality.</a:t>
            </a:r>
          </a:p>
          <a:p>
            <a:pPr marL="285750" indent="-285750">
              <a:buFont typeface="Arial"/>
              <a:buChar char="•"/>
            </a:pPr>
            <a:endParaRPr lang="en-US" sz="1400" dirty="0">
              <a:cs typeface="Calibri"/>
            </a:endParaRPr>
          </a:p>
          <a:p>
            <a:pPr marL="285750" indent="-285750">
              <a:buFont typeface="Arial"/>
              <a:buChar char="•"/>
            </a:pPr>
            <a:r>
              <a:rPr lang="en-US" sz="1400" dirty="0">
                <a:cs typeface="Calibri"/>
              </a:rPr>
              <a:t>Custom DQ checks and unit scripts will ensure quality of data both at source(pre data load) and target(post data load) storage.</a:t>
            </a:r>
          </a:p>
          <a:p>
            <a:pPr marL="285750" indent="-285750">
              <a:buFont typeface="Arial"/>
              <a:buChar char="•"/>
            </a:pPr>
            <a:endParaRPr lang="en-US" sz="1400" dirty="0">
              <a:cs typeface="Calibri"/>
            </a:endParaRPr>
          </a:p>
          <a:p>
            <a:pPr marL="285750" indent="-285750">
              <a:buFont typeface="Arial"/>
              <a:buChar char="•"/>
            </a:pPr>
            <a:r>
              <a:rPr lang="en-US" sz="1400" dirty="0">
                <a:cs typeface="Calibri"/>
              </a:rPr>
              <a:t>Since historical and real-time </a:t>
            </a:r>
            <a:r>
              <a:rPr lang="en-US" sz="1400" dirty="0">
                <a:ea typeface="+mn-lt"/>
                <a:cs typeface="+mn-lt"/>
              </a:rPr>
              <a:t>data </a:t>
            </a:r>
            <a:r>
              <a:rPr lang="en-US" sz="1400" dirty="0">
                <a:cs typeface="Calibri"/>
              </a:rPr>
              <a:t>are stored in two different storage areas 'offline storage' and 'online storage' respectively, Data Scientists can render the required data through api calls/quering tools from offline store with user right permissions controlled through fine grained ACL/Sentry and then perform train-test data split and ventorize the features for model training/validation. Similarly, the real-time data from online store can be fetched and fed into final model for model serving on scheduling. This allows any data likeage during model training and testing.</a:t>
            </a:r>
          </a:p>
          <a:p>
            <a:pPr marL="285750" indent="-285750">
              <a:buFont typeface="Arial"/>
              <a:buChar char="•"/>
            </a:pPr>
            <a:endParaRPr lang="en-US" sz="1400" dirty="0">
              <a:cs typeface="Calibri"/>
            </a:endParaRPr>
          </a:p>
          <a:p>
            <a:r>
              <a:rPr lang="en-US" sz="1400" dirty="0">
                <a:cs typeface="Calibri"/>
              </a:rPr>
              <a:t>With Docker, Kubernetes and Kubeflow,</a:t>
            </a:r>
          </a:p>
          <a:p>
            <a:pPr marL="285750" indent="-285750">
              <a:buFont typeface="Arial"/>
              <a:buChar char="•"/>
            </a:pPr>
            <a:r>
              <a:rPr lang="en-US" sz="1400" dirty="0">
                <a:cs typeface="Calibri"/>
              </a:rPr>
              <a:t>Users can carry out model prototying and experiments using Jupyter notebook and configure it in Kubeflow pipeline for further model tuning and enhancements. This helps users make any changes and arrive at the optimal model and its parameters in an automated way.</a:t>
            </a:r>
          </a:p>
          <a:p>
            <a:pPr marL="285750" indent="-285750">
              <a:buFont typeface="Arial"/>
              <a:buChar char="•"/>
            </a:pPr>
            <a:endParaRPr lang="en-US" sz="1400" dirty="0">
              <a:cs typeface="Calibri"/>
            </a:endParaRPr>
          </a:p>
          <a:p>
            <a:pPr marL="285750" indent="-285750">
              <a:buFont typeface="Arial"/>
              <a:buChar char="•"/>
            </a:pPr>
            <a:r>
              <a:rPr lang="en-US" sz="1400" dirty="0">
                <a:cs typeface="Calibri"/>
              </a:rPr>
              <a:t>Once final version of Kubeflow ML pipeline.yaml is generated, executed, and tested, it can be then deployed into further lanes through Production with the help Docker image and containers </a:t>
            </a:r>
            <a:r>
              <a:rPr lang="en-US" sz="1400" dirty="0" err="1">
                <a:cs typeface="Calibri"/>
              </a:rPr>
              <a:t>hypervised</a:t>
            </a:r>
            <a:r>
              <a:rPr lang="en-US" sz="1400" dirty="0">
                <a:cs typeface="Calibri"/>
              </a:rPr>
              <a:t> by Kubernetes in a quick manner. </a:t>
            </a:r>
          </a:p>
          <a:p>
            <a:pPr marL="285750" indent="-285750">
              <a:buFont typeface="Arial"/>
              <a:buChar char="•"/>
            </a:pPr>
            <a:endParaRPr lang="en-US" sz="1400" dirty="0">
              <a:cs typeface="Calibri"/>
            </a:endParaRPr>
          </a:p>
          <a:p>
            <a:pPr marL="285750" indent="-285750">
              <a:buFont typeface="Arial"/>
              <a:buChar char="•"/>
            </a:pPr>
            <a:r>
              <a:rPr lang="en-US" sz="1400" dirty="0">
                <a:cs typeface="Calibri"/>
              </a:rPr>
              <a:t>Model performance and data drift can be monitored and alerts can be triggered upon threshold set based on model accuracy and data statistics. This allows models to be retrained with newly observed data periodically upon model degradation.</a:t>
            </a:r>
          </a:p>
        </p:txBody>
      </p:sp>
    </p:spTree>
    <p:extLst>
      <p:ext uri="{BB962C8B-B14F-4D97-AF65-F5344CB8AC3E}">
        <p14:creationId xmlns:p14="http://schemas.microsoft.com/office/powerpoint/2010/main" val="565318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BA96F-381D-4BBD-8093-B4DD77B8F019}"/>
              </a:ext>
            </a:extLst>
          </p:cNvPr>
          <p:cNvSpPr>
            <a:spLocks noGrp="1"/>
          </p:cNvSpPr>
          <p:nvPr>
            <p:ph type="title"/>
          </p:nvPr>
        </p:nvSpPr>
        <p:spPr/>
        <p:txBody>
          <a:bodyPr>
            <a:normAutofit/>
          </a:bodyPr>
          <a:lstStyle/>
          <a:p>
            <a:r>
              <a:rPr lang="en-US" sz="2000" b="1">
                <a:cs typeface="Calibri Light"/>
              </a:rPr>
              <a:t>ML model development and deployment Solution</a:t>
            </a:r>
            <a:endParaRPr lang="en-US"/>
          </a:p>
        </p:txBody>
      </p:sp>
      <p:sp>
        <p:nvSpPr>
          <p:cNvPr id="3" name="Content Placeholder 2">
            <a:extLst>
              <a:ext uri="{FF2B5EF4-FFF2-40B4-BE49-F238E27FC236}">
                <a16:creationId xmlns:a16="http://schemas.microsoft.com/office/drawing/2014/main" id="{AFB27171-5414-4067-A2E5-0BB4362AC88E}"/>
              </a:ext>
            </a:extLst>
          </p:cNvPr>
          <p:cNvSpPr>
            <a:spLocks noGrp="1"/>
          </p:cNvSpPr>
          <p:nvPr>
            <p:ph idx="1"/>
          </p:nvPr>
        </p:nvSpPr>
        <p:spPr>
          <a:xfrm>
            <a:off x="838200" y="1381688"/>
            <a:ext cx="10515600" cy="4351338"/>
          </a:xfrm>
        </p:spPr>
        <p:txBody>
          <a:bodyPr vert="horz" lIns="91440" tIns="45720" rIns="91440" bIns="45720" rtlCol="0" anchor="t">
            <a:normAutofit/>
          </a:bodyPr>
          <a:lstStyle/>
          <a:p>
            <a:pPr marL="0" indent="0">
              <a:buNone/>
            </a:pPr>
            <a:r>
              <a:rPr lang="en-US" sz="1400" b="1">
                <a:cs typeface="Calibri" panose="020F0502020204030204"/>
              </a:rPr>
              <a:t>Assumptions and challenges:</a:t>
            </a:r>
          </a:p>
          <a:p>
            <a:pPr marL="285750" indent="-285750"/>
            <a:endParaRPr lang="en-US" sz="1400" dirty="0">
              <a:cs typeface="Calibri"/>
            </a:endParaRPr>
          </a:p>
          <a:p>
            <a:pPr marL="285750" indent="-285750"/>
            <a:r>
              <a:rPr lang="en-US" sz="1400" dirty="0">
                <a:cs typeface="Calibri"/>
              </a:rPr>
              <a:t>Beyond managing designed features in 'Feature Store', Data Scientists might need a custom features to be generated during model experiments which require a temporary storage area for them to retain the custom features until optimal model gets </a:t>
            </a:r>
            <a:r>
              <a:rPr lang="en-US" sz="1400">
                <a:cs typeface="Calibri"/>
              </a:rPr>
              <a:t>built. This might lead to an additional sandbox setup at user level.</a:t>
            </a:r>
            <a:endParaRPr lang="en-US" sz="1400" dirty="0">
              <a:cs typeface="Calibri"/>
            </a:endParaRPr>
          </a:p>
          <a:p>
            <a:pPr marL="285750" indent="-285750"/>
            <a:r>
              <a:rPr lang="en-US" sz="1400">
                <a:cs typeface="Calibri"/>
              </a:rPr>
              <a:t>Before vectorizing the features, train/test data split has to be carried </a:t>
            </a:r>
            <a:r>
              <a:rPr lang="en-US" sz="1400">
                <a:ea typeface="+mn-lt"/>
                <a:cs typeface="+mn-lt"/>
              </a:rPr>
              <a:t>out </a:t>
            </a:r>
            <a:r>
              <a:rPr lang="en-US" sz="1400">
                <a:cs typeface="Calibri"/>
              </a:rPr>
              <a:t>separately for model training and validation to avoid data leakage. UDF can be developed and fitted in the Kubeflow ML pipeline to handle this.</a:t>
            </a:r>
            <a:endParaRPr lang="en-US" sz="1400" dirty="0">
              <a:cs typeface="Calibri"/>
            </a:endParaRPr>
          </a:p>
          <a:p>
            <a:pPr marL="285750" indent="-285750"/>
            <a:r>
              <a:rPr lang="en-US" sz="1400">
                <a:cs typeface="Calibri"/>
              </a:rPr>
              <a:t>Data pipeline is a prerequisite to any ML pipeline to be triggered. In case of failures </a:t>
            </a:r>
            <a:r>
              <a:rPr lang="en-US" sz="1400" dirty="0">
                <a:ea typeface="+mn-lt"/>
                <a:cs typeface="+mn-lt"/>
              </a:rPr>
              <a:t>after systematic Kubeflow retry happen in</a:t>
            </a:r>
            <a:r>
              <a:rPr lang="en-US" sz="1400" dirty="0">
                <a:cs typeface="Calibri"/>
              </a:rPr>
              <a:t> </a:t>
            </a:r>
            <a:r>
              <a:rPr lang="en-US" sz="1400">
                <a:cs typeface="Calibri"/>
              </a:rPr>
              <a:t>data pipeline including DQ failures will lead to data unavailability, thus need a manual effort to fix the data pipeline issue.</a:t>
            </a:r>
            <a:endParaRPr lang="en-US" sz="1400" dirty="0">
              <a:cs typeface="Calibri"/>
            </a:endParaRPr>
          </a:p>
          <a:p>
            <a:pPr marL="285750" indent="-285750"/>
            <a:r>
              <a:rPr lang="en-US" sz="1400">
                <a:cs typeface="Calibri"/>
              </a:rPr>
              <a:t>In case of changes in data dimensions, ML pipeline has to be taken back to lower environment to train/validate the model and then deploy it to higher lanes.</a:t>
            </a:r>
            <a:endParaRPr lang="en-US" sz="1400" dirty="0">
              <a:cs typeface="Calibri"/>
            </a:endParaRPr>
          </a:p>
          <a:p>
            <a:pPr marL="285750" indent="-285750"/>
            <a:r>
              <a:rPr lang="en-US" sz="1400">
                <a:cs typeface="Calibri"/>
              </a:rPr>
              <a:t>This MLOps solutioning approach is designed based on ML/NLP/DL model development. In case of Deep Learning</a:t>
            </a:r>
            <a:r>
              <a:rPr lang="en-US" sz="1400" dirty="0">
                <a:cs typeface="Calibri"/>
              </a:rPr>
              <a:t> </a:t>
            </a:r>
            <a:r>
              <a:rPr lang="en-US" sz="1400">
                <a:cs typeface="Calibri"/>
              </a:rPr>
              <a:t>problems, it might need extra storage.</a:t>
            </a:r>
            <a:endParaRPr lang="en-US" sz="1400" dirty="0">
              <a:cs typeface="Calibri"/>
            </a:endParaRPr>
          </a:p>
          <a:p>
            <a:pPr marL="285750" indent="-285750"/>
            <a:endParaRPr lang="en-US" sz="1400" dirty="0">
              <a:cs typeface="Calibri"/>
            </a:endParaRPr>
          </a:p>
        </p:txBody>
      </p:sp>
    </p:spTree>
    <p:extLst>
      <p:ext uri="{BB962C8B-B14F-4D97-AF65-F5344CB8AC3E}">
        <p14:creationId xmlns:p14="http://schemas.microsoft.com/office/powerpoint/2010/main" val="3537562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BA96F-381D-4BBD-8093-B4DD77B8F019}"/>
              </a:ext>
            </a:extLst>
          </p:cNvPr>
          <p:cNvSpPr>
            <a:spLocks noGrp="1"/>
          </p:cNvSpPr>
          <p:nvPr>
            <p:ph type="title"/>
          </p:nvPr>
        </p:nvSpPr>
        <p:spPr/>
        <p:txBody>
          <a:bodyPr>
            <a:normAutofit/>
          </a:bodyPr>
          <a:lstStyle/>
          <a:p>
            <a:r>
              <a:rPr lang="en-US" sz="2000" b="1">
                <a:cs typeface="Calibri Light"/>
              </a:rPr>
              <a:t>ML model development and deployment Solution</a:t>
            </a:r>
            <a:endParaRPr lang="en-US"/>
          </a:p>
        </p:txBody>
      </p:sp>
      <p:sp>
        <p:nvSpPr>
          <p:cNvPr id="3" name="Content Placeholder 2">
            <a:extLst>
              <a:ext uri="{FF2B5EF4-FFF2-40B4-BE49-F238E27FC236}">
                <a16:creationId xmlns:a16="http://schemas.microsoft.com/office/drawing/2014/main" id="{AFB27171-5414-4067-A2E5-0BB4362AC88E}"/>
              </a:ext>
            </a:extLst>
          </p:cNvPr>
          <p:cNvSpPr>
            <a:spLocks noGrp="1"/>
          </p:cNvSpPr>
          <p:nvPr>
            <p:ph idx="1"/>
          </p:nvPr>
        </p:nvSpPr>
        <p:spPr>
          <a:xfrm>
            <a:off x="760268" y="2109052"/>
            <a:ext cx="10515600" cy="1701657"/>
          </a:xfrm>
        </p:spPr>
        <p:txBody>
          <a:bodyPr vert="horz" lIns="91440" tIns="45720" rIns="91440" bIns="45720" rtlCol="0" anchor="t">
            <a:normAutofit/>
          </a:bodyPr>
          <a:lstStyle/>
          <a:p>
            <a:pPr marL="0" indent="0" algn="ctr">
              <a:buNone/>
            </a:pPr>
            <a:r>
              <a:rPr lang="en-US" b="1">
                <a:cs typeface="Calibri" panose="020F0502020204030204"/>
              </a:rPr>
              <a:t>Thank You!</a:t>
            </a:r>
            <a:endParaRPr lang="en-US">
              <a:cs typeface="Calibri" panose="020F0502020204030204"/>
            </a:endParaRPr>
          </a:p>
          <a:p>
            <a:pPr marL="0" indent="0" algn="ctr">
              <a:buNone/>
            </a:pPr>
            <a:endParaRPr lang="en-US" b="1" dirty="0">
              <a:cs typeface="Calibri"/>
            </a:endParaRPr>
          </a:p>
          <a:p>
            <a:pPr marL="0" indent="0" algn="ctr">
              <a:buNone/>
            </a:pPr>
            <a:r>
              <a:rPr lang="en-US" b="1">
                <a:cs typeface="Calibri"/>
              </a:rPr>
              <a:t>Any questions?</a:t>
            </a:r>
            <a:endParaRPr lang="en-US" b="1" dirty="0">
              <a:cs typeface="Calibri"/>
            </a:endParaRPr>
          </a:p>
          <a:p>
            <a:pPr marL="285750" indent="-285750" algn="ctr"/>
            <a:endParaRPr lang="en-US" dirty="0">
              <a:cs typeface="Calibri"/>
            </a:endParaRPr>
          </a:p>
        </p:txBody>
      </p:sp>
    </p:spTree>
    <p:extLst>
      <p:ext uri="{BB962C8B-B14F-4D97-AF65-F5344CB8AC3E}">
        <p14:creationId xmlns:p14="http://schemas.microsoft.com/office/powerpoint/2010/main" val="28661166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ML model development and deployment Solution</vt:lpstr>
      <vt:lpstr>ML model development and deployment Solution</vt:lpstr>
      <vt:lpstr>PowerPoint Presentation</vt:lpstr>
      <vt:lpstr>Proposed e2e MLOps Solution : High-level architecture</vt:lpstr>
      <vt:lpstr>ML model development and deployment Solution</vt:lpstr>
      <vt:lpstr>ML model development and deployment Solution</vt:lpstr>
      <vt:lpstr>ML model development and deployment 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2179</cp:revision>
  <dcterms:created xsi:type="dcterms:W3CDTF">2021-11-28T12:13:39Z</dcterms:created>
  <dcterms:modified xsi:type="dcterms:W3CDTF">2022-03-23T02:54:04Z</dcterms:modified>
</cp:coreProperties>
</file>